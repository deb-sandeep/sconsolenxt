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23"/>
  </p:notesMasterIdLst>
  <p:sldIdLst>
    <p:sldId id="273" r:id="rId2"/>
    <p:sldId id="257" r:id="rId3"/>
    <p:sldId id="261" r:id="rId4"/>
    <p:sldId id="260" r:id="rId5"/>
    <p:sldId id="264" r:id="rId6"/>
    <p:sldId id="259" r:id="rId7"/>
    <p:sldId id="265" r:id="rId8"/>
    <p:sldId id="266" r:id="rId9"/>
    <p:sldId id="267" r:id="rId10"/>
    <p:sldId id="262" r:id="rId11"/>
    <p:sldId id="263" r:id="rId12"/>
    <p:sldId id="258" r:id="rId13"/>
    <p:sldId id="275" r:id="rId14"/>
    <p:sldId id="269" r:id="rId15"/>
    <p:sldId id="276" r:id="rId16"/>
    <p:sldId id="270" r:id="rId17"/>
    <p:sldId id="277" r:id="rId18"/>
    <p:sldId id="271" r:id="rId19"/>
    <p:sldId id="278" r:id="rId20"/>
    <p:sldId id="272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6110"/>
    <a:srgbClr val="634A0D"/>
    <a:srgbClr val="AA7F12"/>
    <a:srgbClr val="7398A3"/>
    <a:srgbClr val="A8DDED"/>
    <a:srgbClr val="919542"/>
    <a:srgbClr val="D7DB5E"/>
    <a:srgbClr val="09853D"/>
    <a:srgbClr val="659238"/>
    <a:srgbClr val="8C6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61"/>
    <p:restoredTop sz="96949"/>
  </p:normalViewPr>
  <p:slideViewPr>
    <p:cSldViewPr snapToGrid="0" snapToObjects="1">
      <p:cViewPr varScale="1">
        <p:scale>
          <a:sx n="138" d="100"/>
          <a:sy n="138" d="100"/>
        </p:scale>
        <p:origin x="153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77BDE-7F8C-BA42-818D-0F62503633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D4002-1DCD-9A4F-831B-A6B56EA2F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1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D4002-1DCD-9A4F-831B-A6B56EA2F5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04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12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33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5A7AED9-214E-3A44-88CD-6232620ECF7B}"/>
              </a:ext>
            </a:extLst>
          </p:cNvPr>
          <p:cNvSpPr txBox="1"/>
          <p:nvPr/>
        </p:nvSpPr>
        <p:spPr>
          <a:xfrm>
            <a:off x="2204357" y="2286782"/>
            <a:ext cx="77832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</a:rPr>
              <a:t>Your dream is within your grasp !</a:t>
            </a:r>
          </a:p>
        </p:txBody>
      </p:sp>
    </p:spTree>
    <p:extLst>
      <p:ext uri="{BB962C8B-B14F-4D97-AF65-F5344CB8AC3E}">
        <p14:creationId xmlns:p14="http://schemas.microsoft.com/office/powerpoint/2010/main" val="397741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838200" y="1447799"/>
            <a:ext cx="10858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 b="1">
                <a:solidFill>
                  <a:srgbClr val="0070C0"/>
                </a:solidFill>
              </a:defRPr>
            </a:lvl1pPr>
          </a:lstStyle>
          <a:p>
            <a:r>
              <a:rPr lang="en-US" b="0" dirty="0"/>
              <a:t>You have proven </a:t>
            </a:r>
            <a:r>
              <a:rPr lang="en-US" dirty="0">
                <a:solidFill>
                  <a:srgbClr val="00B0F0"/>
                </a:solidFill>
              </a:rPr>
              <a:t>conclusively</a:t>
            </a:r>
            <a:r>
              <a:rPr lang="en-US" b="0" dirty="0"/>
              <a:t> that you can crack the exam </a:t>
            </a:r>
            <a:r>
              <a:rPr lang="en-US" b="0" dirty="0">
                <a:solidFill>
                  <a:srgbClr val="FFC000"/>
                </a:solidFill>
              </a:rPr>
              <a:t>if you perform at your </a:t>
            </a:r>
            <a:r>
              <a:rPr lang="en-US" sz="6600" dirty="0">
                <a:solidFill>
                  <a:srgbClr val="FF0000"/>
                </a:solidFill>
              </a:rPr>
              <a:t>full potential </a:t>
            </a:r>
            <a:r>
              <a:rPr lang="en-US" b="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7116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9EA7542-BAEF-BC4D-85F6-606AA384647D}"/>
              </a:ext>
            </a:extLst>
          </p:cNvPr>
          <p:cNvSpPr txBox="1"/>
          <p:nvPr/>
        </p:nvSpPr>
        <p:spPr>
          <a:xfrm>
            <a:off x="2454728" y="1997839"/>
            <a:ext cx="72825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 b="1"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Performing at full potential is not always easy …</a:t>
            </a:r>
          </a:p>
        </p:txBody>
      </p:sp>
    </p:spTree>
    <p:extLst>
      <p:ext uri="{BB962C8B-B14F-4D97-AF65-F5344CB8AC3E}">
        <p14:creationId xmlns:p14="http://schemas.microsoft.com/office/powerpoint/2010/main" val="230763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250371" y="1077686"/>
            <a:ext cx="116912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pPr algn="l"/>
            <a:r>
              <a:rPr lang="en-US" sz="4000" dirty="0">
                <a:solidFill>
                  <a:srgbClr val="0070C0"/>
                </a:solidFill>
              </a:rPr>
              <a:t>What does it mean to perform at full potential? </a:t>
            </a:r>
            <a:endParaRPr lang="en-US" sz="4800" dirty="0"/>
          </a:p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simply means</a:t>
            </a:r>
            <a:r>
              <a:rPr lang="en-US" sz="2800" dirty="0"/>
              <a:t>:</a:t>
            </a:r>
          </a:p>
          <a:p>
            <a:endParaRPr lang="en-US" sz="4800" dirty="0"/>
          </a:p>
          <a:p>
            <a:pPr marL="357188" indent="-357188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50"/>
                </a:solidFill>
              </a:rPr>
              <a:t>Not making errors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problems you solved</a:t>
            </a:r>
          </a:p>
          <a:p>
            <a:pPr marL="357188" indent="-357188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357188" indent="-357188" algn="l">
              <a:buFont typeface="Arial" panose="020B0604020202020204" pitchFamily="34" charset="0"/>
              <a:buChar char="•"/>
            </a:pPr>
            <a:r>
              <a:rPr lang="en-US" sz="4000" dirty="0"/>
              <a:t>Not wasting time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problems you couldn’t have solved</a:t>
            </a:r>
          </a:p>
          <a:p>
            <a:pPr marL="357188" indent="-357188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57188" indent="-357188" algn="l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Not abandoning questions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which you could have solved</a:t>
            </a:r>
          </a:p>
        </p:txBody>
      </p:sp>
    </p:spTree>
    <p:extLst>
      <p:ext uri="{BB962C8B-B14F-4D97-AF65-F5344CB8AC3E}">
        <p14:creationId xmlns:p14="http://schemas.microsoft.com/office/powerpoint/2010/main" val="314538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D8B39D-73A8-F84B-AD93-A66F90CD187A}"/>
              </a:ext>
            </a:extLst>
          </p:cNvPr>
          <p:cNvSpPr txBox="1"/>
          <p:nvPr/>
        </p:nvSpPr>
        <p:spPr>
          <a:xfrm>
            <a:off x="903513" y="435428"/>
            <a:ext cx="6966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Problems which you can solve, need the following capability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7C7D0-9CB9-0A42-AC77-4C639970304C}"/>
              </a:ext>
            </a:extLst>
          </p:cNvPr>
          <p:cNvSpPr txBox="1"/>
          <p:nvPr/>
        </p:nvSpPr>
        <p:spPr>
          <a:xfrm>
            <a:off x="8055429" y="280342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Recollection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C9BF6-BF36-0147-9F58-7793549C31DC}"/>
              </a:ext>
            </a:extLst>
          </p:cNvPr>
          <p:cNvSpPr txBox="1"/>
          <p:nvPr/>
        </p:nvSpPr>
        <p:spPr>
          <a:xfrm>
            <a:off x="8055429" y="71884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Lateral thinking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7D924-7FB0-E54F-8198-6B21585A1E78}"/>
              </a:ext>
            </a:extLst>
          </p:cNvPr>
          <p:cNvSpPr txBox="1"/>
          <p:nvPr/>
        </p:nvSpPr>
        <p:spPr>
          <a:xfrm>
            <a:off x="8055429" y="115466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Accuracy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7A45E-45D0-5E4C-B5DF-CEE7FA65322F}"/>
              </a:ext>
            </a:extLst>
          </p:cNvPr>
          <p:cNvSpPr txBox="1"/>
          <p:nvPr/>
        </p:nvSpPr>
        <p:spPr>
          <a:xfrm>
            <a:off x="8055429" y="1585097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69754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D8B39D-73A8-F84B-AD93-A66F90CD187A}"/>
              </a:ext>
            </a:extLst>
          </p:cNvPr>
          <p:cNvSpPr txBox="1"/>
          <p:nvPr/>
        </p:nvSpPr>
        <p:spPr>
          <a:xfrm>
            <a:off x="903513" y="435428"/>
            <a:ext cx="6966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Problems which you can solve, need the following capability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402771" y="2490420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honed these capabilities with thousands of hours of practice. However, these capabilities are NOT time and space invariant.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87827E-48DA-A745-8FB9-C42A3C5A713F}"/>
              </a:ext>
            </a:extLst>
          </p:cNvPr>
          <p:cNvSpPr txBox="1"/>
          <p:nvPr/>
        </p:nvSpPr>
        <p:spPr>
          <a:xfrm>
            <a:off x="8055429" y="280342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Recollection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F64BB-F357-C745-B29A-5F71EF8E804B}"/>
              </a:ext>
            </a:extLst>
          </p:cNvPr>
          <p:cNvSpPr txBox="1"/>
          <p:nvPr/>
        </p:nvSpPr>
        <p:spPr>
          <a:xfrm>
            <a:off x="8055429" y="71884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Lateral thinking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69408-7282-8F44-BC85-07B3ECB61011}"/>
              </a:ext>
            </a:extLst>
          </p:cNvPr>
          <p:cNvSpPr txBox="1"/>
          <p:nvPr/>
        </p:nvSpPr>
        <p:spPr>
          <a:xfrm>
            <a:off x="8055429" y="115466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Accuracy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E54E4C-8CEA-FB45-B257-1B36458F2816}"/>
              </a:ext>
            </a:extLst>
          </p:cNvPr>
          <p:cNvSpPr txBox="1"/>
          <p:nvPr/>
        </p:nvSpPr>
        <p:spPr>
          <a:xfrm>
            <a:off x="8055429" y="1585097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135934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D8B39D-73A8-F84B-AD93-A66F90CD187A}"/>
              </a:ext>
            </a:extLst>
          </p:cNvPr>
          <p:cNvSpPr txBox="1"/>
          <p:nvPr/>
        </p:nvSpPr>
        <p:spPr>
          <a:xfrm>
            <a:off x="903513" y="435428"/>
            <a:ext cx="6966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Problems which you can solve, need the following capability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402771" y="2490420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honed these capabilities with thousands of hours of practice. However, these capabilities are NOT time and space invariant.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320F2-D395-6A41-BD04-2C40F3A313E6}"/>
              </a:ext>
            </a:extLst>
          </p:cNvPr>
          <p:cNvSpPr txBox="1"/>
          <p:nvPr/>
        </p:nvSpPr>
        <p:spPr>
          <a:xfrm>
            <a:off x="3570515" y="3729804"/>
            <a:ext cx="79683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Distractions and a turbulent state of mind can severely handicap these capabilities 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800" dirty="0">
                <a:solidFill>
                  <a:srgbClr val="FF0000"/>
                </a:solidFill>
              </a:rPr>
              <a:t> higher error rate.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7E3D6F-9382-FC40-B531-DE49533301D2}"/>
              </a:ext>
            </a:extLst>
          </p:cNvPr>
          <p:cNvSpPr txBox="1"/>
          <p:nvPr/>
        </p:nvSpPr>
        <p:spPr>
          <a:xfrm>
            <a:off x="8055429" y="280342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Recollection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69E0C-AEC9-6844-AF9F-A0E34F6415B5}"/>
              </a:ext>
            </a:extLst>
          </p:cNvPr>
          <p:cNvSpPr txBox="1"/>
          <p:nvPr/>
        </p:nvSpPr>
        <p:spPr>
          <a:xfrm>
            <a:off x="8055429" y="71884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Lateral thinking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EE978-33F6-3144-8C8D-C115EB5A022E}"/>
              </a:ext>
            </a:extLst>
          </p:cNvPr>
          <p:cNvSpPr txBox="1"/>
          <p:nvPr/>
        </p:nvSpPr>
        <p:spPr>
          <a:xfrm>
            <a:off x="8055429" y="115466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Accuracy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A454A-0C45-3443-9A5F-5522EC8D53E7}"/>
              </a:ext>
            </a:extLst>
          </p:cNvPr>
          <p:cNvSpPr txBox="1"/>
          <p:nvPr/>
        </p:nvSpPr>
        <p:spPr>
          <a:xfrm>
            <a:off x="8055429" y="1585097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162963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D8B39D-73A8-F84B-AD93-A66F90CD187A}"/>
              </a:ext>
            </a:extLst>
          </p:cNvPr>
          <p:cNvSpPr txBox="1"/>
          <p:nvPr/>
        </p:nvSpPr>
        <p:spPr>
          <a:xfrm>
            <a:off x="903513" y="435428"/>
            <a:ext cx="6966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Problems which you can solve, need the following capability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402771" y="2490420"/>
            <a:ext cx="1097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honed these capabilities with thousands of hours of practice. However, these capabilities are NOT time and space invariant.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C7A80-0C42-1E4A-9AF9-0FCCE267DD62}"/>
              </a:ext>
            </a:extLst>
          </p:cNvPr>
          <p:cNvSpPr txBox="1"/>
          <p:nvPr/>
        </p:nvSpPr>
        <p:spPr>
          <a:xfrm>
            <a:off x="217713" y="5523186"/>
            <a:ext cx="113973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B050"/>
                </a:solidFill>
              </a:rPr>
              <a:t>What is needed in addition is a </a:t>
            </a:r>
            <a:r>
              <a:rPr lang="en-US" sz="4000" b="1" u="sng" dirty="0">
                <a:solidFill>
                  <a:srgbClr val="00B050"/>
                </a:solidFill>
              </a:rPr>
              <a:t>strategy</a:t>
            </a:r>
            <a:r>
              <a:rPr lang="en-US" sz="4000" dirty="0">
                <a:solidFill>
                  <a:srgbClr val="00B050"/>
                </a:solidFill>
              </a:rPr>
              <a:t> to neutralize distractions and turbulence of mind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D7583-39EB-3045-BAAB-32E3E3030511}"/>
              </a:ext>
            </a:extLst>
          </p:cNvPr>
          <p:cNvSpPr txBox="1"/>
          <p:nvPr/>
        </p:nvSpPr>
        <p:spPr>
          <a:xfrm>
            <a:off x="8055429" y="280342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Recollection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7CF3F-D376-2B4E-9320-2D3E8ABBEF03}"/>
              </a:ext>
            </a:extLst>
          </p:cNvPr>
          <p:cNvSpPr txBox="1"/>
          <p:nvPr/>
        </p:nvSpPr>
        <p:spPr>
          <a:xfrm>
            <a:off x="8055429" y="71884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Lateral thinking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7147CD-4D8E-A04C-8BC1-68AD61F3B4A2}"/>
              </a:ext>
            </a:extLst>
          </p:cNvPr>
          <p:cNvSpPr txBox="1"/>
          <p:nvPr/>
        </p:nvSpPr>
        <p:spPr>
          <a:xfrm>
            <a:off x="8055429" y="1154668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Accuracy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8AED8B-C923-EE49-AE81-B739DF203012}"/>
              </a:ext>
            </a:extLst>
          </p:cNvPr>
          <p:cNvSpPr txBox="1"/>
          <p:nvPr/>
        </p:nvSpPr>
        <p:spPr>
          <a:xfrm>
            <a:off x="8055429" y="1585097"/>
            <a:ext cx="2188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70B37-81BD-1740-AE83-845567FBE017}"/>
              </a:ext>
            </a:extLst>
          </p:cNvPr>
          <p:cNvSpPr txBox="1"/>
          <p:nvPr/>
        </p:nvSpPr>
        <p:spPr>
          <a:xfrm>
            <a:off x="3570515" y="3729804"/>
            <a:ext cx="79683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Distractions and a turbulent state of mind can severely handicap these capabilities 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800" dirty="0">
                <a:solidFill>
                  <a:srgbClr val="FF0000"/>
                </a:solidFill>
              </a:rPr>
              <a:t> higher error rate.</a:t>
            </a:r>
          </a:p>
        </p:txBody>
      </p:sp>
    </p:spTree>
    <p:extLst>
      <p:ext uri="{BB962C8B-B14F-4D97-AF65-F5344CB8AC3E}">
        <p14:creationId xmlns:p14="http://schemas.microsoft.com/office/powerpoint/2010/main" val="407655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1D24A5-ED14-1E4D-B026-21D182FD192E}"/>
              </a:ext>
            </a:extLst>
          </p:cNvPr>
          <p:cNvSpPr txBox="1"/>
          <p:nvPr/>
        </p:nvSpPr>
        <p:spPr>
          <a:xfrm>
            <a:off x="974272" y="1447800"/>
            <a:ext cx="1024345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</a:rPr>
              <a:t>A strategy is not a silver bullet </a:t>
            </a:r>
          </a:p>
          <a:p>
            <a:endParaRPr lang="en-US" sz="6000" dirty="0">
              <a:solidFill>
                <a:srgbClr val="FF0000"/>
              </a:solidFill>
            </a:endParaRPr>
          </a:p>
          <a:p>
            <a:r>
              <a:rPr lang="en-US" sz="6000" dirty="0"/>
              <a:t>– </a:t>
            </a: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it needs </a:t>
            </a:r>
            <a:r>
              <a:rPr lang="en-US" sz="4800" dirty="0">
                <a:solidFill>
                  <a:srgbClr val="92D050"/>
                </a:solidFill>
              </a:rPr>
              <a:t>relentless practice </a:t>
            </a: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US" sz="4800" dirty="0">
                <a:solidFill>
                  <a:srgbClr val="92D050"/>
                </a:solidFill>
              </a:rPr>
              <a:t> unwavering discipline </a:t>
            </a: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to adhere to it</a:t>
            </a:r>
            <a:endParaRPr lang="en-US" sz="6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43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3935855-689E-7143-AAC1-0313ECC88F11}"/>
              </a:ext>
            </a:extLst>
          </p:cNvPr>
          <p:cNvSpPr txBox="1"/>
          <p:nvPr/>
        </p:nvSpPr>
        <p:spPr>
          <a:xfrm>
            <a:off x="562393" y="393173"/>
            <a:ext cx="108421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FF00"/>
                </a:solidFill>
              </a:rPr>
              <a:t>Our lap-based strategy has evolved over months of effort and analysis.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D24A5-ED14-1E4D-B026-21D182FD192E}"/>
              </a:ext>
            </a:extLst>
          </p:cNvPr>
          <p:cNvSpPr txBox="1"/>
          <p:nvPr/>
        </p:nvSpPr>
        <p:spPr>
          <a:xfrm>
            <a:off x="221109" y="1999265"/>
            <a:ext cx="101563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It helps by:</a:t>
            </a:r>
          </a:p>
          <a:p>
            <a:endParaRPr lang="en-US" sz="3200" dirty="0">
              <a:solidFill>
                <a:srgbClr val="00B0F0"/>
              </a:solidFill>
            </a:endParaRPr>
          </a:p>
          <a:p>
            <a:pPr marL="541338" indent="-541338">
              <a:buAutoNum type="arabicPeriod"/>
            </a:pPr>
            <a:r>
              <a:rPr lang="en-US" sz="3200" dirty="0">
                <a:solidFill>
                  <a:srgbClr val="00B0F0"/>
                </a:solidFill>
              </a:rPr>
              <a:t>Managing time </a:t>
            </a:r>
          </a:p>
          <a:p>
            <a:r>
              <a:rPr lang="en-US" sz="3200" dirty="0">
                <a:solidFill>
                  <a:srgbClr val="00B0F0"/>
                </a:solidFill>
              </a:rPr>
              <a:t>	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by leveraging benchmarks</a:t>
            </a:r>
          </a:p>
          <a:p>
            <a:pPr marL="541338" indent="-541338">
              <a:buAutoNum type="arabicPeriod"/>
            </a:pP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41338" indent="-541338">
              <a:buAutoNum type="arabicPeriod"/>
            </a:pPr>
            <a:r>
              <a:rPr lang="en-US" sz="3200" dirty="0">
                <a:solidFill>
                  <a:srgbClr val="00B0F0"/>
                </a:solidFill>
              </a:rPr>
              <a:t>Maximizing guaranteed marks </a:t>
            </a:r>
          </a:p>
          <a:p>
            <a:r>
              <a:rPr lang="en-US" sz="3200" dirty="0">
                <a:solidFill>
                  <a:srgbClr val="00B0F0"/>
                </a:solidFill>
              </a:rPr>
              <a:t>	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by effective prioritization</a:t>
            </a:r>
          </a:p>
          <a:p>
            <a:pPr marL="541338" indent="-541338">
              <a:buAutoNum type="arabicPeriod"/>
            </a:pP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41338" indent="-541338">
              <a:buAutoNum type="arabicPeriod"/>
            </a:pPr>
            <a:r>
              <a:rPr lang="en-US" sz="3200" dirty="0">
                <a:solidFill>
                  <a:srgbClr val="00B0F0"/>
                </a:solidFill>
              </a:rPr>
              <a:t>Avoiding psychological pressures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03337-925C-28AF-DDE0-FC3C9B59D630}"/>
              </a:ext>
            </a:extLst>
          </p:cNvPr>
          <p:cNvSpPr txBox="1"/>
          <p:nvPr/>
        </p:nvSpPr>
        <p:spPr>
          <a:xfrm>
            <a:off x="6844420" y="2762371"/>
            <a:ext cx="5021655" cy="175432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L1   → high certainty </a:t>
            </a:r>
          </a:p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L2P  → planning without solving </a:t>
            </a:r>
          </a:p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L2   → bounded solving </a:t>
            </a:r>
          </a:p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AMR  → validation only </a:t>
            </a:r>
          </a:p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L3P  → strategic triage </a:t>
            </a:r>
          </a:p>
          <a:p>
            <a:r>
              <a:rPr lang="en-IN" b="1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ea typeface="CMU SERIF ROMAN" panose="02000603000000000000" pitchFamily="2" charset="0"/>
                <a:cs typeface="Courier New" panose="02070309020205020404" pitchFamily="49" charset="0"/>
              </a:rPr>
              <a:t>L3   → final opportunistic solving </a:t>
            </a:r>
          </a:p>
        </p:txBody>
      </p:sp>
    </p:spTree>
    <p:extLst>
      <p:ext uri="{BB962C8B-B14F-4D97-AF65-F5344CB8AC3E}">
        <p14:creationId xmlns:p14="http://schemas.microsoft.com/office/powerpoint/2010/main" val="3760814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98D72BB-28DE-8E44-B85E-A59B10D8996D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62C017-A1EE-C64C-A33D-23D75EA15EDB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241B5FC-AD88-3848-9861-41302CE9B36C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879E4E30-00E4-6743-8746-2695AF9D2B14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DFED527-B02B-7C43-B012-428DD75230B2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C517371B-67EE-C444-95A4-2B2C235A1DB2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165373B-542F-A148-A634-D45DBD3CAC9B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F8D7A-AE9F-E541-AAA0-46C7FDA73BD3}"/>
              </a:ext>
            </a:extLst>
          </p:cNvPr>
          <p:cNvSpPr txBox="1"/>
          <p:nvPr/>
        </p:nvSpPr>
        <p:spPr>
          <a:xfrm>
            <a:off x="303436" y="2705993"/>
            <a:ext cx="665117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92D050"/>
                </a:solidFill>
              </a:rPr>
              <a:t>Attempting “extremely easy” questions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Concept based questions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Fact based questions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Simple calculations &lt; 2 min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If working needs cross checking, mark as AMR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If not solved &lt; 2 min, push to L3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92D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92D050"/>
                </a:solidFill>
              </a:rPr>
              <a:t>Isolating L2/L3 questions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Guaranteed solvable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2 min &lt; effort &lt; 4 min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&lt;15 seconds to decide – attempt, L2 or L3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F198FD-04B3-5C47-8B13-AC6D59C2986A}"/>
              </a:ext>
            </a:extLst>
          </p:cNvPr>
          <p:cNvSpPr/>
          <p:nvPr/>
        </p:nvSpPr>
        <p:spPr>
          <a:xfrm>
            <a:off x="762003" y="223155"/>
            <a:ext cx="1774371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1" descr="A picture containing icon&#10;&#10;Description automatically generated">
            <a:extLst>
              <a:ext uri="{FF2B5EF4-FFF2-40B4-BE49-F238E27FC236}">
                <a16:creationId xmlns:a16="http://schemas.microsoft.com/office/drawing/2014/main" id="{ECA2657F-13DE-2627-B7E4-5D7891CBF3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7415886" y="3439657"/>
            <a:ext cx="437503" cy="396000"/>
          </a:xfrm>
          <a:prstGeom prst="rect">
            <a:avLst/>
          </a:prstGeom>
        </p:spPr>
      </p:pic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DA59A488-D1A7-C488-4749-4BBC62E9D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73" t="74026" r="78773"/>
          <a:stretch/>
        </p:blipFill>
        <p:spPr>
          <a:xfrm>
            <a:off x="7415886" y="4103871"/>
            <a:ext cx="434346" cy="396000"/>
          </a:xfrm>
          <a:prstGeom prst="rect">
            <a:avLst/>
          </a:prstGeom>
        </p:spPr>
      </p:pic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8C2C11C2-2CD8-875B-C45B-C22CA854A6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79" t="52337" r="72779" b="24286"/>
          <a:stretch/>
        </p:blipFill>
        <p:spPr>
          <a:xfrm>
            <a:off x="7415886" y="5624250"/>
            <a:ext cx="399872" cy="396000"/>
          </a:xfrm>
          <a:prstGeom prst="rect">
            <a:avLst/>
          </a:prstGeom>
        </p:spPr>
      </p:pic>
      <p:pic>
        <p:nvPicPr>
          <p:cNvPr id="16" name="Picture 15" descr="A picture containing icon&#10;&#10;Description automatically generated">
            <a:extLst>
              <a:ext uri="{FF2B5EF4-FFF2-40B4-BE49-F238E27FC236}">
                <a16:creationId xmlns:a16="http://schemas.microsoft.com/office/drawing/2014/main" id="{E568FB12-BB9E-8869-0403-4657C2008F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1" t="52727" r="81919" b="25065"/>
          <a:stretch/>
        </p:blipFill>
        <p:spPr>
          <a:xfrm>
            <a:off x="7399558" y="4537429"/>
            <a:ext cx="410773" cy="396000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B37F9062-E9AB-68C5-9D2A-3DBDE5D3E518}"/>
              </a:ext>
            </a:extLst>
          </p:cNvPr>
          <p:cNvSpPr/>
          <p:nvPr/>
        </p:nvSpPr>
        <p:spPr>
          <a:xfrm>
            <a:off x="7136180" y="3220345"/>
            <a:ext cx="234664" cy="909546"/>
          </a:xfrm>
          <a:prstGeom prst="rightBrace">
            <a:avLst>
              <a:gd name="adj1" fmla="val 50641"/>
              <a:gd name="adj2" fmla="val 509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E90B00E-4ED1-9BD1-2055-9A6D2FADE678}"/>
              </a:ext>
            </a:extLst>
          </p:cNvPr>
          <p:cNvSpPr/>
          <p:nvPr/>
        </p:nvSpPr>
        <p:spPr>
          <a:xfrm>
            <a:off x="7136180" y="4129891"/>
            <a:ext cx="234664" cy="355919"/>
          </a:xfrm>
          <a:prstGeom prst="rightBrace">
            <a:avLst>
              <a:gd name="adj1" fmla="val 5064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11043055-8750-64C7-C691-42CE157C027F}"/>
              </a:ext>
            </a:extLst>
          </p:cNvPr>
          <p:cNvSpPr/>
          <p:nvPr/>
        </p:nvSpPr>
        <p:spPr>
          <a:xfrm>
            <a:off x="7136180" y="4486398"/>
            <a:ext cx="234664" cy="355919"/>
          </a:xfrm>
          <a:prstGeom prst="rightBrace">
            <a:avLst>
              <a:gd name="adj1" fmla="val 5064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BE635901-4BCE-0D21-C4C0-993D51B22428}"/>
              </a:ext>
            </a:extLst>
          </p:cNvPr>
          <p:cNvSpPr/>
          <p:nvPr/>
        </p:nvSpPr>
        <p:spPr>
          <a:xfrm>
            <a:off x="7136180" y="5569527"/>
            <a:ext cx="234664" cy="503463"/>
          </a:xfrm>
          <a:prstGeom prst="rightBrace">
            <a:avLst>
              <a:gd name="adj1" fmla="val 5064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A7C7A1D-FF0E-3D5D-84B5-6B6719268132}"/>
              </a:ext>
            </a:extLst>
          </p:cNvPr>
          <p:cNvSpPr/>
          <p:nvPr/>
        </p:nvSpPr>
        <p:spPr>
          <a:xfrm>
            <a:off x="7136180" y="6072990"/>
            <a:ext cx="234664" cy="355919"/>
          </a:xfrm>
          <a:prstGeom prst="rightBrace">
            <a:avLst>
              <a:gd name="adj1" fmla="val 5064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picture containing icon&#10;&#10;Description automatically generated">
            <a:extLst>
              <a:ext uri="{FF2B5EF4-FFF2-40B4-BE49-F238E27FC236}">
                <a16:creationId xmlns:a16="http://schemas.microsoft.com/office/drawing/2014/main" id="{8D4A300B-D6EE-68BB-ADAC-24DAACC7ED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1" t="52727" r="81919" b="25065"/>
          <a:stretch/>
        </p:blipFill>
        <p:spPr>
          <a:xfrm>
            <a:off x="7415886" y="6073056"/>
            <a:ext cx="410773" cy="396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8460CF7-C5A4-72C4-5A90-CE6E4AC9B3F7}"/>
              </a:ext>
            </a:extLst>
          </p:cNvPr>
          <p:cNvSpPr txBox="1"/>
          <p:nvPr/>
        </p:nvSpPr>
        <p:spPr>
          <a:xfrm>
            <a:off x="7966979" y="3439657"/>
            <a:ext cx="372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Done. 100% certainity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B87FB7-4E7F-6127-5DC1-FD8162EFF58E}"/>
              </a:ext>
            </a:extLst>
          </p:cNvPr>
          <p:cNvSpPr txBox="1"/>
          <p:nvPr/>
        </p:nvSpPr>
        <p:spPr>
          <a:xfrm>
            <a:off x="7966979" y="4130539"/>
            <a:ext cx="419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Done. &lt;100% certainity. Needs recheck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2672E2-2CB0-FC06-4345-C5EC5E272895}"/>
              </a:ext>
            </a:extLst>
          </p:cNvPr>
          <p:cNvSpPr txBox="1"/>
          <p:nvPr/>
        </p:nvSpPr>
        <p:spPr>
          <a:xfrm>
            <a:off x="7966979" y="4564097"/>
            <a:ext cx="419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Attempt in Lap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3D8044-005D-6A29-D1C1-CE47695EAD87}"/>
              </a:ext>
            </a:extLst>
          </p:cNvPr>
          <p:cNvSpPr txBox="1"/>
          <p:nvPr/>
        </p:nvSpPr>
        <p:spPr>
          <a:xfrm>
            <a:off x="7966979" y="5621392"/>
            <a:ext cx="419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Attempt in Lap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FF7BE0-0A10-1332-58CC-AF1C4B38FC57}"/>
              </a:ext>
            </a:extLst>
          </p:cNvPr>
          <p:cNvSpPr txBox="1"/>
          <p:nvPr/>
        </p:nvSpPr>
        <p:spPr>
          <a:xfrm>
            <a:off x="7966979" y="6066283"/>
            <a:ext cx="419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Attempt in Lap 3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823DAFB4-E282-8EEC-7115-46E118357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>
            <a:extLst>
              <a:ext uri="{FF2B5EF4-FFF2-40B4-BE49-F238E27FC236}">
                <a16:creationId xmlns:a16="http://schemas.microsoft.com/office/drawing/2014/main" id="{1AC569C0-694A-8FD2-E2C3-700CC7038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12C1765D-B086-754A-8037-17CAA491B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6E95424C-FA9A-A471-272B-FABAD961E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>
            <a:extLst>
              <a:ext uri="{FF2B5EF4-FFF2-40B4-BE49-F238E27FC236}">
                <a16:creationId xmlns:a16="http://schemas.microsoft.com/office/drawing/2014/main" id="{CD494B5C-3023-79D7-6EDE-E17A76324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D6403A24-D648-F343-3A85-595BFD359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7811088E-4FD0-4D44-8109-FE54F49F5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AB138CA-FC2A-B9C6-9139-00C59567F32A}"/>
              </a:ext>
            </a:extLst>
          </p:cNvPr>
          <p:cNvSpPr txBox="1"/>
          <p:nvPr/>
        </p:nvSpPr>
        <p:spPr>
          <a:xfrm>
            <a:off x="471055" y="1228436"/>
            <a:ext cx="11055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FF00"/>
                </a:solidFill>
              </a:rPr>
              <a:t>Goals: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Bag all “very easy” questions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Isolate “moderate” and “difficult” questions</a:t>
            </a:r>
          </a:p>
        </p:txBody>
      </p:sp>
    </p:spTree>
    <p:extLst>
      <p:ext uri="{BB962C8B-B14F-4D97-AF65-F5344CB8AC3E}">
        <p14:creationId xmlns:p14="http://schemas.microsoft.com/office/powerpoint/2010/main" val="181045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7BC4-4F23-43AE-1593-00995371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FB5ABA59-BD3E-7F97-2D61-7E75B368E627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D3E592BA-22EA-93CF-309C-322B8EA47B61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289DC86A-3592-FB1F-81D6-DA3E07E0786A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20F9A13F-5A1F-A3DF-7B6A-E582DE9747A5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88157B61-5052-D39F-276B-380C7110230B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B66C3FCD-2234-5C4B-7256-74742523F7B4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3470A9F-ABA7-A135-B6BA-8E7AFAEC3252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9C13249C-6440-838B-1DDD-019E25E2DB2D}"/>
              </a:ext>
            </a:extLst>
          </p:cNvPr>
          <p:cNvSpPr/>
          <p:nvPr/>
        </p:nvSpPr>
        <p:spPr>
          <a:xfrm>
            <a:off x="762003" y="223155"/>
            <a:ext cx="1774371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154FF4-12C1-CC50-D39A-215EB2C0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956" y="142893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55F3AF4-E686-6C9C-599B-D4E12682ED12}"/>
              </a:ext>
            </a:extLst>
          </p:cNvPr>
          <p:cNvSpPr/>
          <p:nvPr/>
        </p:nvSpPr>
        <p:spPr>
          <a:xfrm>
            <a:off x="4809900" y="1428939"/>
            <a:ext cx="2680595" cy="381000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Goto next ”not-visited” question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D28904DE-53EB-63DC-1140-915D0D1C9542}"/>
              </a:ext>
            </a:extLst>
          </p:cNvPr>
          <p:cNvSpPr/>
          <p:nvPr/>
        </p:nvSpPr>
        <p:spPr>
          <a:xfrm>
            <a:off x="5833154" y="2039814"/>
            <a:ext cx="623662" cy="623662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A31B3-CAA2-4868-290B-CD2CD7892EC8}"/>
              </a:ext>
            </a:extLst>
          </p:cNvPr>
          <p:cNvSpPr txBox="1"/>
          <p:nvPr/>
        </p:nvSpPr>
        <p:spPr>
          <a:xfrm flipH="1">
            <a:off x="1010372" y="1255076"/>
            <a:ext cx="2680596" cy="646331"/>
          </a:xfrm>
          <a:prstGeom prst="accentCallout2">
            <a:avLst>
              <a:gd name="adj1" fmla="val 65016"/>
              <a:gd name="adj2" fmla="val 10989"/>
              <a:gd name="adj3" fmla="val 65456"/>
              <a:gd name="adj4" fmla="val 2428"/>
              <a:gd name="adj5" fmla="val 155890"/>
              <a:gd name="adj6" fmla="val -8099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Concept based questions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Fact based questions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Simple calculations &lt; 2 min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4AA86BE-A50A-EBB9-2E8B-7D2F84A023C8}"/>
              </a:ext>
            </a:extLst>
          </p:cNvPr>
          <p:cNvSpPr/>
          <p:nvPr/>
        </p:nvSpPr>
        <p:spPr>
          <a:xfrm>
            <a:off x="3917584" y="2682337"/>
            <a:ext cx="892316" cy="381000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Attempt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C58B2E1A-1894-F9B7-DC35-62761CAA9407}"/>
              </a:ext>
            </a:extLst>
          </p:cNvPr>
          <p:cNvSpPr/>
          <p:nvPr/>
        </p:nvSpPr>
        <p:spPr>
          <a:xfrm>
            <a:off x="4129342" y="3354085"/>
            <a:ext cx="468799" cy="468799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69109-8226-95E4-1612-F9989ACC38EF}"/>
              </a:ext>
            </a:extLst>
          </p:cNvPr>
          <p:cNvSpPr txBox="1"/>
          <p:nvPr/>
        </p:nvSpPr>
        <p:spPr>
          <a:xfrm flipH="1">
            <a:off x="1010372" y="3109245"/>
            <a:ext cx="1471562" cy="215444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4631"/>
              <a:gd name="adj6" fmla="val -11924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Solved in &lt; 2min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057E1E6-F5D3-3932-9135-35CBF215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842" y="5193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8F87F8-2BF3-ACFC-41D8-DC6BFC657715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 flipH="1">
            <a:off x="6144985" y="1809939"/>
            <a:ext cx="5213" cy="229875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34AF1B43-A2F6-20B1-69F7-D3373C116A55}"/>
              </a:ext>
            </a:extLst>
          </p:cNvPr>
          <p:cNvCxnSpPr>
            <a:stCxn id="29" idx="1"/>
            <a:endCxn id="31" idx="0"/>
          </p:cNvCxnSpPr>
          <p:nvPr/>
        </p:nvCxnSpPr>
        <p:spPr>
          <a:xfrm rot="10800000" flipV="1">
            <a:off x="4363742" y="2351645"/>
            <a:ext cx="1469412" cy="3306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BC8648-0AC7-E082-FBAA-647D23D3F23F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4363742" y="3063337"/>
            <a:ext cx="0" cy="29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7CB05B1-D529-D324-555B-010EF35DAE21}"/>
              </a:ext>
            </a:extLst>
          </p:cNvPr>
          <p:cNvCxnSpPr>
            <a:cxnSpLocks/>
            <a:stCxn id="32" idx="3"/>
            <a:endCxn id="1037" idx="0"/>
          </p:cNvCxnSpPr>
          <p:nvPr/>
        </p:nvCxnSpPr>
        <p:spPr>
          <a:xfrm>
            <a:off x="4598141" y="3588485"/>
            <a:ext cx="424107" cy="1611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5E6A3A78-7789-2612-BEA1-5B1C1B1212FD}"/>
              </a:ext>
            </a:extLst>
          </p:cNvPr>
          <p:cNvCxnSpPr>
            <a:cxnSpLocks/>
            <a:stCxn id="32" idx="1"/>
            <a:endCxn id="52" idx="0"/>
          </p:cNvCxnSpPr>
          <p:nvPr/>
        </p:nvCxnSpPr>
        <p:spPr>
          <a:xfrm rot="10800000" flipV="1">
            <a:off x="3553304" y="3588484"/>
            <a:ext cx="576039" cy="675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448D686-2CA9-F03A-D445-7986350E7A1A}"/>
              </a:ext>
            </a:extLst>
          </p:cNvPr>
          <p:cNvSpPr txBox="1"/>
          <p:nvPr/>
        </p:nvSpPr>
        <p:spPr>
          <a:xfrm>
            <a:off x="5022248" y="2349824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5430E7-A4D9-C465-8665-4DB88CD7D4B7}"/>
              </a:ext>
            </a:extLst>
          </p:cNvPr>
          <p:cNvSpPr txBox="1"/>
          <p:nvPr/>
        </p:nvSpPr>
        <p:spPr>
          <a:xfrm>
            <a:off x="3619516" y="3594645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4D4A2F-61F7-21E6-8FAD-0289B608392D}"/>
              </a:ext>
            </a:extLst>
          </p:cNvPr>
          <p:cNvSpPr txBox="1"/>
          <p:nvPr/>
        </p:nvSpPr>
        <p:spPr>
          <a:xfrm>
            <a:off x="3685427" y="4543078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4A8214-87BE-8CE3-0B32-40C871EA87DF}"/>
              </a:ext>
            </a:extLst>
          </p:cNvPr>
          <p:cNvSpPr txBox="1"/>
          <p:nvPr/>
        </p:nvSpPr>
        <p:spPr>
          <a:xfrm flipH="1">
            <a:off x="983177" y="4189860"/>
            <a:ext cx="1994086" cy="215444"/>
          </a:xfrm>
          <a:prstGeom prst="accentCallout2">
            <a:avLst>
              <a:gd name="adj1" fmla="val 26132"/>
              <a:gd name="adj2" fmla="val -757"/>
              <a:gd name="adj3" fmla="val 29919"/>
              <a:gd name="adj4" fmla="val -4747"/>
              <a:gd name="adj5" fmla="val 89753"/>
              <a:gd name="adj6" fmla="val -23312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Answer needs recheck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093EA6C3-736A-8E92-048E-F0AB7A5C2808}"/>
              </a:ext>
            </a:extLst>
          </p:cNvPr>
          <p:cNvSpPr/>
          <p:nvPr/>
        </p:nvSpPr>
        <p:spPr>
          <a:xfrm>
            <a:off x="3321146" y="4264058"/>
            <a:ext cx="464314" cy="464314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pic>
        <p:nvPicPr>
          <p:cNvPr id="53" name="Picture 4">
            <a:extLst>
              <a:ext uri="{FF2B5EF4-FFF2-40B4-BE49-F238E27FC236}">
                <a16:creationId xmlns:a16="http://schemas.microsoft.com/office/drawing/2014/main" id="{6A8F1856-58EB-2405-60EC-9F8685F4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958" y="5193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648D01E-3E4D-0A08-922E-79A603B53B00}"/>
              </a:ext>
            </a:extLst>
          </p:cNvPr>
          <p:cNvCxnSpPr>
            <a:cxnSpLocks/>
            <a:stCxn id="52" idx="1"/>
            <a:endCxn id="53" idx="0"/>
          </p:cNvCxnSpPr>
          <p:nvPr/>
        </p:nvCxnSpPr>
        <p:spPr>
          <a:xfrm rot="10800000" flipV="1">
            <a:off x="3004458" y="4496214"/>
            <a:ext cx="316688" cy="6975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8D252EBF-BA7A-833E-84FF-996BE6107BFA}"/>
              </a:ext>
            </a:extLst>
          </p:cNvPr>
          <p:cNvCxnSpPr>
            <a:cxnSpLocks/>
            <a:stCxn id="52" idx="3"/>
            <a:endCxn id="1030" idx="0"/>
          </p:cNvCxnSpPr>
          <p:nvPr/>
        </p:nvCxnSpPr>
        <p:spPr>
          <a:xfrm>
            <a:off x="3785460" y="4496215"/>
            <a:ext cx="343882" cy="6975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F2ECDB79-4115-CAEC-C2B6-FA246AF8FC6E}"/>
              </a:ext>
            </a:extLst>
          </p:cNvPr>
          <p:cNvSpPr txBox="1"/>
          <p:nvPr/>
        </p:nvSpPr>
        <p:spPr>
          <a:xfrm>
            <a:off x="2962801" y="4545243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2DCB1A91-EA12-8B02-4BF4-68FA3548ED00}"/>
              </a:ext>
            </a:extLst>
          </p:cNvPr>
          <p:cNvSpPr txBox="1"/>
          <p:nvPr/>
        </p:nvSpPr>
        <p:spPr>
          <a:xfrm>
            <a:off x="4557934" y="3606217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pic>
        <p:nvPicPr>
          <p:cNvPr id="1037" name="Picture 8">
            <a:extLst>
              <a:ext uri="{FF2B5EF4-FFF2-40B4-BE49-F238E27FC236}">
                <a16:creationId xmlns:a16="http://schemas.microsoft.com/office/drawing/2014/main" id="{7866BC1C-8F3F-8B30-4DEA-B99203136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748" y="5200131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0" name="Elbow Connector 1039">
            <a:extLst>
              <a:ext uri="{FF2B5EF4-FFF2-40B4-BE49-F238E27FC236}">
                <a16:creationId xmlns:a16="http://schemas.microsoft.com/office/drawing/2014/main" id="{96304B61-3C71-EEBE-84E6-560A0913B718}"/>
              </a:ext>
            </a:extLst>
          </p:cNvPr>
          <p:cNvCxnSpPr>
            <a:cxnSpLocks/>
            <a:stCxn id="29" idx="3"/>
            <a:endCxn id="1043" idx="0"/>
          </p:cNvCxnSpPr>
          <p:nvPr/>
        </p:nvCxnSpPr>
        <p:spPr>
          <a:xfrm>
            <a:off x="6456816" y="2351645"/>
            <a:ext cx="1324290" cy="3066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Diamond 1042">
            <a:extLst>
              <a:ext uri="{FF2B5EF4-FFF2-40B4-BE49-F238E27FC236}">
                <a16:creationId xmlns:a16="http://schemas.microsoft.com/office/drawing/2014/main" id="{390526E1-6453-61C1-851A-112E1FD18049}"/>
              </a:ext>
            </a:extLst>
          </p:cNvPr>
          <p:cNvSpPr/>
          <p:nvPr/>
        </p:nvSpPr>
        <p:spPr>
          <a:xfrm>
            <a:off x="7546706" y="2658313"/>
            <a:ext cx="468799" cy="468799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C61F550B-8321-C2FB-46A9-4DF5E07991F2}"/>
              </a:ext>
            </a:extLst>
          </p:cNvPr>
          <p:cNvSpPr txBox="1"/>
          <p:nvPr/>
        </p:nvSpPr>
        <p:spPr>
          <a:xfrm>
            <a:off x="9011023" y="1928803"/>
            <a:ext cx="2058371" cy="430887"/>
          </a:xfrm>
          <a:prstGeom prst="accentCallout2">
            <a:avLst>
              <a:gd name="adj1" fmla="val 55931"/>
              <a:gd name="adj2" fmla="val -1842"/>
              <a:gd name="adj3" fmla="val 56371"/>
              <a:gd name="adj4" fmla="val -9465"/>
              <a:gd name="adj5" fmla="val 192881"/>
              <a:gd name="adj6" fmla="val -42503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Guaranteed solvable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2 min &lt; effort &lt; 4 min</a:t>
            </a:r>
          </a:p>
        </p:txBody>
      </p:sp>
      <p:pic>
        <p:nvPicPr>
          <p:cNvPr id="1046" name="Picture 10">
            <a:extLst>
              <a:ext uri="{FF2B5EF4-FFF2-40B4-BE49-F238E27FC236}">
                <a16:creationId xmlns:a16="http://schemas.microsoft.com/office/drawing/2014/main" id="{BC77780A-6C73-CAD6-2228-56B2AC75F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617" y="5205863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7" name="Elbow Connector 1046">
            <a:extLst>
              <a:ext uri="{FF2B5EF4-FFF2-40B4-BE49-F238E27FC236}">
                <a16:creationId xmlns:a16="http://schemas.microsoft.com/office/drawing/2014/main" id="{15FE6FD3-61AA-8099-65BA-E1C603E3C098}"/>
              </a:ext>
            </a:extLst>
          </p:cNvPr>
          <p:cNvCxnSpPr>
            <a:cxnSpLocks/>
            <a:stCxn id="1043" idx="1"/>
            <a:endCxn id="1046" idx="0"/>
          </p:cNvCxnSpPr>
          <p:nvPr/>
        </p:nvCxnSpPr>
        <p:spPr>
          <a:xfrm rot="10800000" flipV="1">
            <a:off x="6996118" y="2892713"/>
            <a:ext cx="550589" cy="2313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F010E806-599F-759E-BD4D-98592BA36FB9}"/>
              </a:ext>
            </a:extLst>
          </p:cNvPr>
          <p:cNvSpPr txBox="1"/>
          <p:nvPr/>
        </p:nvSpPr>
        <p:spPr>
          <a:xfrm>
            <a:off x="7064071" y="2915742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pic>
        <p:nvPicPr>
          <p:cNvPr id="1051" name="Picture 8">
            <a:extLst>
              <a:ext uri="{FF2B5EF4-FFF2-40B4-BE49-F238E27FC236}">
                <a16:creationId xmlns:a16="http://schemas.microsoft.com/office/drawing/2014/main" id="{AD6BC0D4-46AA-B2D1-EB45-474420645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170" y="5205863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2" name="Elbow Connector 1051">
            <a:extLst>
              <a:ext uri="{FF2B5EF4-FFF2-40B4-BE49-F238E27FC236}">
                <a16:creationId xmlns:a16="http://schemas.microsoft.com/office/drawing/2014/main" id="{9BCD7349-1ADD-FAB3-31E1-5E8E7132E674}"/>
              </a:ext>
            </a:extLst>
          </p:cNvPr>
          <p:cNvCxnSpPr>
            <a:cxnSpLocks/>
            <a:stCxn id="1043" idx="3"/>
            <a:endCxn id="1051" idx="0"/>
          </p:cNvCxnSpPr>
          <p:nvPr/>
        </p:nvCxnSpPr>
        <p:spPr>
          <a:xfrm>
            <a:off x="8015505" y="2892713"/>
            <a:ext cx="420165" cy="2313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7944311B-7C72-E826-6838-28A3F8B4F81D}"/>
              </a:ext>
            </a:extLst>
          </p:cNvPr>
          <p:cNvSpPr txBox="1"/>
          <p:nvPr/>
        </p:nvSpPr>
        <p:spPr>
          <a:xfrm>
            <a:off x="7931308" y="2941450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4F4B7C1-01DA-CE0F-19BF-E183D59A1C4F}"/>
              </a:ext>
            </a:extLst>
          </p:cNvPr>
          <p:cNvSpPr txBox="1"/>
          <p:nvPr/>
        </p:nvSpPr>
        <p:spPr>
          <a:xfrm>
            <a:off x="6654647" y="2360015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C710DB66-D99B-7D87-706C-1953C7F60E9D}"/>
              </a:ext>
            </a:extLst>
          </p:cNvPr>
          <p:cNvSpPr txBox="1"/>
          <p:nvPr/>
        </p:nvSpPr>
        <p:spPr>
          <a:xfrm flipH="1">
            <a:off x="2350670" y="5842482"/>
            <a:ext cx="8072103" cy="7917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108000" tIns="72000" rIns="0" bIns="7200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At the end of L1 there should be no “not-visited”       questions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All questions ”answered”        in L1 will not be visited again. Assumed to be 100% guaranteed correct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L1 is high on right decision making</a:t>
            </a:r>
          </a:p>
        </p:txBody>
      </p:sp>
      <p:pic>
        <p:nvPicPr>
          <p:cNvPr id="1060" name="Picture 2">
            <a:extLst>
              <a:ext uri="{FF2B5EF4-FFF2-40B4-BE49-F238E27FC236}">
                <a16:creationId xmlns:a16="http://schemas.microsoft.com/office/drawing/2014/main" id="{CBC2D639-9CDB-C4F1-B95B-92EABDE67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017" y="6021426"/>
            <a:ext cx="206801" cy="20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6">
            <a:extLst>
              <a:ext uri="{FF2B5EF4-FFF2-40B4-BE49-F238E27FC236}">
                <a16:creationId xmlns:a16="http://schemas.microsoft.com/office/drawing/2014/main" id="{5D2F4BEB-9B4C-FE87-7ACB-27E898B9F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934" y="6236616"/>
            <a:ext cx="206802" cy="20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2">
            <a:extLst>
              <a:ext uri="{FF2B5EF4-FFF2-40B4-BE49-F238E27FC236}">
                <a16:creationId xmlns:a16="http://schemas.microsoft.com/office/drawing/2014/main" id="{D6CDBCC2-FE96-D95B-378F-1C06A6D2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10">
            <a:extLst>
              <a:ext uri="{FF2B5EF4-FFF2-40B4-BE49-F238E27FC236}">
                <a16:creationId xmlns:a16="http://schemas.microsoft.com/office/drawing/2014/main" id="{9EC425D1-F4BB-7A1B-0844-AD200B50E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10">
            <a:extLst>
              <a:ext uri="{FF2B5EF4-FFF2-40B4-BE49-F238E27FC236}">
                <a16:creationId xmlns:a16="http://schemas.microsoft.com/office/drawing/2014/main" id="{14D219CD-2760-3683-8B0B-93409209C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">
            <a:extLst>
              <a:ext uri="{FF2B5EF4-FFF2-40B4-BE49-F238E27FC236}">
                <a16:creationId xmlns:a16="http://schemas.microsoft.com/office/drawing/2014/main" id="{5CAB7C48-D63A-DC71-E53D-2834377B3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8">
            <a:extLst>
              <a:ext uri="{FF2B5EF4-FFF2-40B4-BE49-F238E27FC236}">
                <a16:creationId xmlns:a16="http://schemas.microsoft.com/office/drawing/2014/main" id="{91A9D50B-ECF6-1FC9-AC96-390E6C29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0">
            <a:extLst>
              <a:ext uri="{FF2B5EF4-FFF2-40B4-BE49-F238E27FC236}">
                <a16:creationId xmlns:a16="http://schemas.microsoft.com/office/drawing/2014/main" id="{3A76108B-3C71-23C1-BF69-E9083F532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8">
            <a:extLst>
              <a:ext uri="{FF2B5EF4-FFF2-40B4-BE49-F238E27FC236}">
                <a16:creationId xmlns:a16="http://schemas.microsoft.com/office/drawing/2014/main" id="{CF2DA94F-6459-C137-6BAE-9DF4CDED0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TextBox 1068">
            <a:extLst>
              <a:ext uri="{FF2B5EF4-FFF2-40B4-BE49-F238E27FC236}">
                <a16:creationId xmlns:a16="http://schemas.microsoft.com/office/drawing/2014/main" id="{B0903511-BF80-2C13-CC2D-2C781EFF24ED}"/>
              </a:ext>
            </a:extLst>
          </p:cNvPr>
          <p:cNvSpPr txBox="1"/>
          <p:nvPr/>
        </p:nvSpPr>
        <p:spPr>
          <a:xfrm>
            <a:off x="1026714" y="4418963"/>
            <a:ext cx="176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Make short note of what area needs recheck</a:t>
            </a:r>
          </a:p>
        </p:txBody>
      </p:sp>
    </p:spTree>
    <p:extLst>
      <p:ext uri="{BB962C8B-B14F-4D97-AF65-F5344CB8AC3E}">
        <p14:creationId xmlns:p14="http://schemas.microsoft.com/office/powerpoint/2010/main" val="56404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98D72BB-28DE-8E44-B85E-A59B10D8996D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62C017-A1EE-C64C-A33D-23D75EA15EDB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241B5FC-AD88-3848-9861-41302CE9B36C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879E4E30-00E4-6743-8746-2695AF9D2B14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DFED527-B02B-7C43-B012-428DD75230B2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C517371B-67EE-C444-95A4-2B2C235A1DB2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165373B-542F-A148-A634-D45DBD3CAC9B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F8D7A-AE9F-E541-AAA0-46C7FDA73BD3}"/>
              </a:ext>
            </a:extLst>
          </p:cNvPr>
          <p:cNvSpPr txBox="1"/>
          <p:nvPr/>
        </p:nvSpPr>
        <p:spPr>
          <a:xfrm>
            <a:off x="471055" y="2765814"/>
            <a:ext cx="7794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L2 Prioritization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Browse only       questions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Spend </a:t>
            </a:r>
            <a:r>
              <a:rPr lang="en-US" sz="2000" dirty="0">
                <a:solidFill>
                  <a:schemeClr val="accent3"/>
                </a:solidFill>
              </a:rPr>
              <a:t>not less than</a:t>
            </a:r>
            <a:r>
              <a:rPr lang="en-US" sz="2000" dirty="0">
                <a:solidFill>
                  <a:srgbClr val="659238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15 seconds </a:t>
            </a:r>
            <a:r>
              <a:rPr lang="en-US" sz="2000" dirty="0">
                <a:solidFill>
                  <a:srgbClr val="659238"/>
                </a:solidFill>
              </a:rPr>
              <a:t>on problems allocated to L2</a:t>
            </a:r>
            <a:endParaRPr lang="en-US" sz="2000" dirty="0">
              <a:solidFill>
                <a:srgbClr val="AA7F1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In case of doubt move </a:t>
            </a:r>
            <a:r>
              <a:rPr lang="en-US" sz="2000" dirty="0" err="1">
                <a:solidFill>
                  <a:srgbClr val="AA7F12"/>
                </a:solidFill>
              </a:rPr>
              <a:t>quest</a:t>
            </a:r>
            <a:r>
              <a:rPr lang="en-US" sz="2000" dirty="0">
                <a:solidFill>
                  <a:srgbClr val="AA7F12"/>
                </a:solidFill>
              </a:rPr>
              <a:t>ion to L3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59238"/>
                </a:solidFill>
              </a:rPr>
              <a:t>Do not solve problems in this round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F198FD-04B3-5C47-8B13-AC6D59C2986A}"/>
              </a:ext>
            </a:extLst>
          </p:cNvPr>
          <p:cNvSpPr/>
          <p:nvPr/>
        </p:nvSpPr>
        <p:spPr>
          <a:xfrm>
            <a:off x="2321228" y="223155"/>
            <a:ext cx="1298273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E86519D-BA5C-2668-A9CB-2D9BD1011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46EB530E-5B89-008A-7A33-966715854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69788677-52CE-03CF-3E99-D74FCC2C0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6D63B0CC-DF3B-BFBF-49C6-1A57709FA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F32991A5-7358-622D-BAFB-686AE6C86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571E99C4-58BD-1D82-4EF4-76D856F63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8923766D-CD9D-B87A-195F-1B896583B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1DCDA4-C080-3D4E-21BB-0235EC1F168F}"/>
              </a:ext>
            </a:extLst>
          </p:cNvPr>
          <p:cNvSpPr txBox="1"/>
          <p:nvPr/>
        </p:nvSpPr>
        <p:spPr>
          <a:xfrm>
            <a:off x="471055" y="1228436"/>
            <a:ext cx="11055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FF00"/>
                </a:solidFill>
              </a:rPr>
              <a:t>Goals: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Filter “moderate” questions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Formuate “rough” working strategy</a:t>
            </a:r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A084489B-C48D-870D-5B68-C7D12AD6A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830" y="3284270"/>
            <a:ext cx="289460" cy="2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965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AD64-3CDB-C7D9-F470-4EC000FA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262DD33-56FF-7695-4C11-31C183F2481E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9BDC1603-66AA-33CB-DCED-B30CA7B65BE0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F3785D6A-2B2B-D930-274B-C1606EB456FD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DF48B55F-156B-1832-BF25-7D0758F8351B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1E83D9C0-8807-6FBB-B3C3-A192A3959C40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F0CDE531-98D8-3C1C-E0CB-43C3D3D089D1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2E82ACCB-FA6B-A1E0-58ED-0201FF42DDA9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4D33E00B-D11F-1657-E5ED-92E09768AAC5}"/>
              </a:ext>
            </a:extLst>
          </p:cNvPr>
          <p:cNvSpPr/>
          <p:nvPr/>
        </p:nvSpPr>
        <p:spPr>
          <a:xfrm>
            <a:off x="2321228" y="223155"/>
            <a:ext cx="1298273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DDEDA53-0615-8B97-7C54-C25136C5A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96FD662C-2D04-00F4-A6CF-A4B9EC0D2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D529F1B7-8E58-5A8E-C257-8394A7DAB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0A0A326-8545-A1D3-786B-135D44DE7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BC9E2E02-798A-90F8-1317-F882E7001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0E5BB2E2-F506-BD73-2B91-4A3AC718C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07AF4D58-E563-BCE6-FF6E-C0D6AAAB7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A236FB-AE9E-08FA-F06F-6AE4DA73C503}"/>
              </a:ext>
            </a:extLst>
          </p:cNvPr>
          <p:cNvSpPr/>
          <p:nvPr/>
        </p:nvSpPr>
        <p:spPr>
          <a:xfrm>
            <a:off x="5116850" y="1437587"/>
            <a:ext cx="2056270" cy="381000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Goto next        question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78FCC98F-F0A0-B4A1-18A1-8663A45BE2EC}"/>
              </a:ext>
            </a:extLst>
          </p:cNvPr>
          <p:cNvSpPr/>
          <p:nvPr/>
        </p:nvSpPr>
        <p:spPr>
          <a:xfrm>
            <a:off x="5833154" y="2039814"/>
            <a:ext cx="623662" cy="623662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2656C-45C1-77DE-2BA9-67A261E7348D}"/>
              </a:ext>
            </a:extLst>
          </p:cNvPr>
          <p:cNvSpPr txBox="1"/>
          <p:nvPr/>
        </p:nvSpPr>
        <p:spPr>
          <a:xfrm flipH="1">
            <a:off x="415308" y="1517260"/>
            <a:ext cx="3270119" cy="215444"/>
          </a:xfrm>
          <a:prstGeom prst="accentCallout2">
            <a:avLst>
              <a:gd name="adj1" fmla="val 63587"/>
              <a:gd name="adj2" fmla="val 538"/>
              <a:gd name="adj3" fmla="val 65456"/>
              <a:gd name="adj4" fmla="val -6610"/>
              <a:gd name="adj5" fmla="val 314513"/>
              <a:gd name="adj6" fmla="val -6969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Confidence level &gt; 75% of solving in L2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B28B517-D819-667B-36F5-0202D17A5961}"/>
              </a:ext>
            </a:extLst>
          </p:cNvPr>
          <p:cNvSpPr/>
          <p:nvPr/>
        </p:nvSpPr>
        <p:spPr>
          <a:xfrm>
            <a:off x="3536692" y="2781467"/>
            <a:ext cx="2059447" cy="291736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Establish rough strategy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CA8F1F65-B842-B7A2-82EE-3B13BD8CD41D}"/>
              </a:ext>
            </a:extLst>
          </p:cNvPr>
          <p:cNvSpPr/>
          <p:nvPr/>
        </p:nvSpPr>
        <p:spPr>
          <a:xfrm>
            <a:off x="4332016" y="3363951"/>
            <a:ext cx="468799" cy="468799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661E0B-A23A-DC5B-339B-F5D518D95A3B}"/>
              </a:ext>
            </a:extLst>
          </p:cNvPr>
          <p:cNvSpPr txBox="1"/>
          <p:nvPr/>
        </p:nvSpPr>
        <p:spPr>
          <a:xfrm flipH="1">
            <a:off x="614786" y="3003133"/>
            <a:ext cx="2004287" cy="430887"/>
          </a:xfrm>
          <a:prstGeom prst="accentCallout2">
            <a:avLst>
              <a:gd name="adj1" fmla="val 20893"/>
              <a:gd name="adj2" fmla="val -1881"/>
              <a:gd name="adj3" fmla="val 18750"/>
              <a:gd name="adj4" fmla="val -16667"/>
              <a:gd name="adj5" fmla="val 112467"/>
              <a:gd name="adj6" fmla="val -9066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Strategy clean?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projected effort &lt; 4 min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C2BFB2D-9E3B-FC30-7E69-970B1C523680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6144985" y="1818587"/>
            <a:ext cx="0" cy="221227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507C70B5-D944-D4E2-AE33-8CFA674C258C}"/>
              </a:ext>
            </a:extLst>
          </p:cNvPr>
          <p:cNvCxnSpPr>
            <a:cxnSpLocks/>
            <a:stCxn id="22" idx="1"/>
            <a:endCxn id="24" idx="0"/>
          </p:cNvCxnSpPr>
          <p:nvPr/>
        </p:nvCxnSpPr>
        <p:spPr>
          <a:xfrm rot="10800000" flipV="1">
            <a:off x="4566416" y="2351645"/>
            <a:ext cx="1266738" cy="429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21C9C9-F4BE-F342-7131-4C9D7E276DC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566416" y="3073203"/>
            <a:ext cx="0" cy="29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54F7A0B-DACD-6738-BEC5-AF4459A7362B}"/>
              </a:ext>
            </a:extLst>
          </p:cNvPr>
          <p:cNvCxnSpPr>
            <a:cxnSpLocks/>
            <a:stCxn id="25" idx="3"/>
            <a:endCxn id="45" idx="0"/>
          </p:cNvCxnSpPr>
          <p:nvPr/>
        </p:nvCxnSpPr>
        <p:spPr>
          <a:xfrm>
            <a:off x="4800815" y="3598351"/>
            <a:ext cx="424107" cy="1611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DAB7114-1105-A147-04FA-81F69FBD5710}"/>
              </a:ext>
            </a:extLst>
          </p:cNvPr>
          <p:cNvCxnSpPr>
            <a:cxnSpLocks/>
            <a:stCxn id="25" idx="1"/>
            <a:endCxn id="75" idx="0"/>
          </p:cNvCxnSpPr>
          <p:nvPr/>
        </p:nvCxnSpPr>
        <p:spPr>
          <a:xfrm rot="10800000" flipV="1">
            <a:off x="3822176" y="3598351"/>
            <a:ext cx="509841" cy="7272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EFA4C0B-080B-4A95-5A5C-69FA974927EE}"/>
              </a:ext>
            </a:extLst>
          </p:cNvPr>
          <p:cNvSpPr txBox="1"/>
          <p:nvPr/>
        </p:nvSpPr>
        <p:spPr>
          <a:xfrm>
            <a:off x="5057009" y="2371528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9F99D7-0644-A2C9-4BAE-BB9F1477968C}"/>
              </a:ext>
            </a:extLst>
          </p:cNvPr>
          <p:cNvSpPr txBox="1"/>
          <p:nvPr/>
        </p:nvSpPr>
        <p:spPr>
          <a:xfrm>
            <a:off x="3822190" y="3604511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AF23F3-252D-C2FF-FABD-42917EE8537A}"/>
              </a:ext>
            </a:extLst>
          </p:cNvPr>
          <p:cNvSpPr txBox="1"/>
          <p:nvPr/>
        </p:nvSpPr>
        <p:spPr>
          <a:xfrm>
            <a:off x="4760608" y="3616083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pic>
        <p:nvPicPr>
          <p:cNvPr id="45" name="Picture 8">
            <a:extLst>
              <a:ext uri="{FF2B5EF4-FFF2-40B4-BE49-F238E27FC236}">
                <a16:creationId xmlns:a16="http://schemas.microsoft.com/office/drawing/2014/main" id="{B368A3B4-7290-645B-819E-144C1430C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4422" y="5209997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E679E8B-8324-6941-EB8F-25284D1A7C3D}"/>
              </a:ext>
            </a:extLst>
          </p:cNvPr>
          <p:cNvCxnSpPr>
            <a:cxnSpLocks/>
            <a:stCxn id="22" idx="3"/>
            <a:endCxn id="78" idx="0"/>
          </p:cNvCxnSpPr>
          <p:nvPr/>
        </p:nvCxnSpPr>
        <p:spPr>
          <a:xfrm>
            <a:off x="6456816" y="2351645"/>
            <a:ext cx="671583" cy="28484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BDA98C6-5A94-830C-18D3-35F34EA45220}"/>
              </a:ext>
            </a:extLst>
          </p:cNvPr>
          <p:cNvSpPr txBox="1"/>
          <p:nvPr/>
        </p:nvSpPr>
        <p:spPr>
          <a:xfrm>
            <a:off x="6542309" y="2359690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pic>
        <p:nvPicPr>
          <p:cNvPr id="59" name="Picture 10">
            <a:extLst>
              <a:ext uri="{FF2B5EF4-FFF2-40B4-BE49-F238E27FC236}">
                <a16:creationId xmlns:a16="http://schemas.microsoft.com/office/drawing/2014/main" id="{6BA2E743-5223-A348-06B7-1A987BADD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50" y="1494303"/>
            <a:ext cx="267568" cy="26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BD842B9-B64B-1EAF-D38F-68CC3E676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175" y="4325627"/>
            <a:ext cx="1270000" cy="228600"/>
          </a:xfrm>
          <a:prstGeom prst="rect">
            <a:avLst/>
          </a:prstGeom>
        </p:spPr>
      </p:pic>
      <p:pic>
        <p:nvPicPr>
          <p:cNvPr id="78" name="Picture 8">
            <a:extLst>
              <a:ext uri="{FF2B5EF4-FFF2-40B4-BE49-F238E27FC236}">
                <a16:creationId xmlns:a16="http://schemas.microsoft.com/office/drawing/2014/main" id="{9E27079D-D563-86A5-951F-FFD23F096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899" y="5200131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120E6CB2-0DA4-ECB6-5C30-669F2CC77F74}"/>
              </a:ext>
            </a:extLst>
          </p:cNvPr>
          <p:cNvSpPr txBox="1"/>
          <p:nvPr/>
        </p:nvSpPr>
        <p:spPr>
          <a:xfrm flipH="1">
            <a:off x="2873830" y="6025831"/>
            <a:ext cx="5777330" cy="36085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108000" tIns="72000" rIns="0" bIns="7200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Broadstroke strategy only. No modelling, no formula recollection</a:t>
            </a:r>
          </a:p>
        </p:txBody>
      </p:sp>
    </p:spTree>
    <p:extLst>
      <p:ext uri="{BB962C8B-B14F-4D97-AF65-F5344CB8AC3E}">
        <p14:creationId xmlns:p14="http://schemas.microsoft.com/office/powerpoint/2010/main" val="1738023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98D72BB-28DE-8E44-B85E-A59B10D8996D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62C017-A1EE-C64C-A33D-23D75EA15EDB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241B5FC-AD88-3848-9861-41302CE9B36C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879E4E30-00E4-6743-8746-2695AF9D2B14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DFED527-B02B-7C43-B012-428DD75230B2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C517371B-67EE-C444-95A4-2B2C235A1DB2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165373B-542F-A148-A634-D45DBD3CAC9B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F8D7A-AE9F-E541-AAA0-46C7FDA73BD3}"/>
              </a:ext>
            </a:extLst>
          </p:cNvPr>
          <p:cNvSpPr txBox="1"/>
          <p:nvPr/>
        </p:nvSpPr>
        <p:spPr>
          <a:xfrm>
            <a:off x="471055" y="2674657"/>
            <a:ext cx="70935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L2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853D"/>
                </a:solidFill>
              </a:rPr>
              <a:t>Attempt ONLY the questions marked for L2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853D"/>
                </a:solidFill>
              </a:rPr>
              <a:t>If working needs cross checking, mark as AMR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If not converging at 3 min mark</a:t>
            </a:r>
            <a:r>
              <a:rPr lang="en-US" sz="2000" dirty="0">
                <a:solidFill>
                  <a:srgbClr val="09853D"/>
                </a:solidFill>
              </a:rPr>
              <a:t> – </a:t>
            </a:r>
            <a:r>
              <a:rPr lang="en-US" sz="2000" dirty="0">
                <a:solidFill>
                  <a:srgbClr val="AA7F12"/>
                </a:solidFill>
              </a:rPr>
              <a:t>raise alert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If not converging at 4 min </a:t>
            </a:r>
            <a:r>
              <a:rPr lang="en-US" sz="2000" dirty="0">
                <a:solidFill>
                  <a:srgbClr val="09853D"/>
                </a:solidFill>
              </a:rPr>
              <a:t>– </a:t>
            </a:r>
            <a:r>
              <a:rPr lang="en-US" sz="2000" dirty="0">
                <a:solidFill>
                  <a:srgbClr val="AA7F12"/>
                </a:solidFill>
              </a:rPr>
              <a:t>push to L3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F198FD-04B3-5C47-8B13-AC6D59C2986A}"/>
              </a:ext>
            </a:extLst>
          </p:cNvPr>
          <p:cNvSpPr/>
          <p:nvPr/>
        </p:nvSpPr>
        <p:spPr>
          <a:xfrm>
            <a:off x="3441662" y="223155"/>
            <a:ext cx="2110048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5EAFD11-3990-1F1A-B4F6-3BE254AE4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50ED53D5-F6EB-BA9A-CF3C-6FDA751D2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8105DBA1-BFA6-AFE5-09BB-5DFFC80A0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8F14812-5ABD-94E0-A57A-C0A7300B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8C30E2F8-BECC-17A4-CF28-C160ED7F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D43157EB-C286-EF52-A730-267716D21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1F4BFAAD-2C59-9668-6901-D363B32FF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F90868-AFEA-7C35-FA4E-F8D87CC31295}"/>
              </a:ext>
            </a:extLst>
          </p:cNvPr>
          <p:cNvSpPr txBox="1"/>
          <p:nvPr/>
        </p:nvSpPr>
        <p:spPr>
          <a:xfrm>
            <a:off x="471055" y="1228436"/>
            <a:ext cx="11055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FF00"/>
                </a:solidFill>
              </a:rPr>
              <a:t>Goals: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Attempt and bag “moderate” questions</a:t>
            </a:r>
          </a:p>
          <a:p>
            <a:pPr marL="717550" indent="-358775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F0"/>
                </a:solidFill>
              </a:rPr>
              <a:t>Do not get entangled in bad judgements</a:t>
            </a:r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7273E9D5-C680-DE2D-8D21-CA6E68AA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295" y="3113477"/>
            <a:ext cx="315523" cy="31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577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8010-268C-2FAA-059A-1B30BE45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C84EA466-6562-99A8-6B21-BDFB9105FC70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66FFA741-1A59-3446-A820-B8F97A6CFF51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DBAF59D7-2B83-3C6B-B2E5-FA39261AF9AD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25F48DAD-8C33-B1DE-DE9D-1CD5F623519E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25D502E-1975-8FBD-8ACE-B16D9A00779C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2BB1E7CE-99BC-7077-6B7A-BB7FD371237E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EBEF4D30-C31F-782D-4C4A-5A0DF579FD69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431A8D56-23C8-9448-F904-2B3B3A3880EE}"/>
              </a:ext>
            </a:extLst>
          </p:cNvPr>
          <p:cNvSpPr/>
          <p:nvPr/>
        </p:nvSpPr>
        <p:spPr>
          <a:xfrm>
            <a:off x="3441662" y="223155"/>
            <a:ext cx="2110048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038DA6F-393B-7020-F886-A7C00E39F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712C261C-21A8-5EE2-1E93-F03DB31ED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33868E83-C075-3500-FCFA-0041E202B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C36EFE7-7861-9E2B-0D3E-F58BC0BB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A6C8462C-1C35-7467-1AEA-555B65EB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240E5DDB-4D59-12E9-6195-E8B97209F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BD23C2CD-8F57-DE13-636E-A7D5A39BA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5A2988-11A5-7FC9-F268-1CEAF8EE4FF1}"/>
              </a:ext>
            </a:extLst>
          </p:cNvPr>
          <p:cNvSpPr/>
          <p:nvPr/>
        </p:nvSpPr>
        <p:spPr>
          <a:xfrm>
            <a:off x="5137263" y="1430465"/>
            <a:ext cx="2015443" cy="381000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Goto next        question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BECB1C-E7C9-9D5B-AC58-CDF7F089DC02}"/>
              </a:ext>
            </a:extLst>
          </p:cNvPr>
          <p:cNvSpPr txBox="1"/>
          <p:nvPr/>
        </p:nvSpPr>
        <p:spPr>
          <a:xfrm>
            <a:off x="8265577" y="1779940"/>
            <a:ext cx="2110049" cy="215444"/>
          </a:xfrm>
          <a:prstGeom prst="accentCallout2">
            <a:avLst>
              <a:gd name="adj1" fmla="val 65016"/>
              <a:gd name="adj2" fmla="val -1705"/>
              <a:gd name="adj3" fmla="val 69744"/>
              <a:gd name="adj4" fmla="val -14206"/>
              <a:gd name="adj5" fmla="val 570313"/>
              <a:gd name="adj6" fmla="val -947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Converging at 3 min?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956E7A5-F6F4-FFC8-D3A5-7982BA9A04A4}"/>
              </a:ext>
            </a:extLst>
          </p:cNvPr>
          <p:cNvSpPr/>
          <p:nvPr/>
        </p:nvSpPr>
        <p:spPr>
          <a:xfrm>
            <a:off x="5698826" y="2169190"/>
            <a:ext cx="892316" cy="289066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Attempt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0C3546C5-7CBF-FC5F-4B6C-CE25C08005E1}"/>
              </a:ext>
            </a:extLst>
          </p:cNvPr>
          <p:cNvSpPr/>
          <p:nvPr/>
        </p:nvSpPr>
        <p:spPr>
          <a:xfrm>
            <a:off x="5910584" y="2864248"/>
            <a:ext cx="468799" cy="468799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159A30-DC15-5319-FAC7-29F858753E7C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144984" y="2458256"/>
            <a:ext cx="0" cy="405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8A02171-439A-3F57-71F0-D00013B35BA8}"/>
              </a:ext>
            </a:extLst>
          </p:cNvPr>
          <p:cNvCxnSpPr>
            <a:cxnSpLocks/>
            <a:stCxn id="25" idx="3"/>
            <a:endCxn id="76" idx="0"/>
          </p:cNvCxnSpPr>
          <p:nvPr/>
        </p:nvCxnSpPr>
        <p:spPr>
          <a:xfrm>
            <a:off x="6379383" y="3098648"/>
            <a:ext cx="1002216" cy="330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35C11B46-C00F-4267-1CAD-6B16E4A8CE52}"/>
              </a:ext>
            </a:extLst>
          </p:cNvPr>
          <p:cNvCxnSpPr>
            <a:cxnSpLocks/>
            <a:stCxn id="25" idx="1"/>
            <a:endCxn id="37" idx="0"/>
          </p:cNvCxnSpPr>
          <p:nvPr/>
        </p:nvCxnSpPr>
        <p:spPr>
          <a:xfrm rot="10800000" flipV="1">
            <a:off x="4996894" y="3098647"/>
            <a:ext cx="913691" cy="7702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5ED76AC-235B-D543-9F21-409029B817A2}"/>
              </a:ext>
            </a:extLst>
          </p:cNvPr>
          <p:cNvSpPr txBox="1"/>
          <p:nvPr/>
        </p:nvSpPr>
        <p:spPr>
          <a:xfrm>
            <a:off x="4300421" y="4080387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C1E5E1-B364-2520-7E1B-44AC0A4CACD5}"/>
              </a:ext>
            </a:extLst>
          </p:cNvPr>
          <p:cNvSpPr txBox="1"/>
          <p:nvPr/>
        </p:nvSpPr>
        <p:spPr>
          <a:xfrm>
            <a:off x="4222872" y="4644368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4A0B25-BA8E-2885-8E25-2BA187BF6C7E}"/>
              </a:ext>
            </a:extLst>
          </p:cNvPr>
          <p:cNvSpPr txBox="1"/>
          <p:nvPr/>
        </p:nvSpPr>
        <p:spPr>
          <a:xfrm flipH="1">
            <a:off x="819872" y="3902992"/>
            <a:ext cx="1994086" cy="215444"/>
          </a:xfrm>
          <a:prstGeom prst="accentCallout2">
            <a:avLst>
              <a:gd name="adj1" fmla="val 26132"/>
              <a:gd name="adj2" fmla="val -757"/>
              <a:gd name="adj3" fmla="val 29919"/>
              <a:gd name="adj4" fmla="val -4747"/>
              <a:gd name="adj5" fmla="val 291248"/>
              <a:gd name="adj6" fmla="val -5619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Answer needs recheck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36A74BF3-9E54-1A48-03B5-6AD1927BAEDC}"/>
              </a:ext>
            </a:extLst>
          </p:cNvPr>
          <p:cNvSpPr/>
          <p:nvPr/>
        </p:nvSpPr>
        <p:spPr>
          <a:xfrm>
            <a:off x="4764736" y="3868929"/>
            <a:ext cx="464314" cy="464314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pic>
        <p:nvPicPr>
          <p:cNvPr id="38" name="Picture 4">
            <a:extLst>
              <a:ext uri="{FF2B5EF4-FFF2-40B4-BE49-F238E27FC236}">
                <a16:creationId xmlns:a16="http://schemas.microsoft.com/office/drawing/2014/main" id="{2C15B8F3-B98D-FC43-69A7-50BBA1AF3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006" y="5193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390D26C-5C16-C749-A88C-A324544C3C4C}"/>
              </a:ext>
            </a:extLst>
          </p:cNvPr>
          <p:cNvCxnSpPr>
            <a:cxnSpLocks/>
            <a:stCxn id="37" idx="1"/>
            <a:endCxn id="88" idx="0"/>
          </p:cNvCxnSpPr>
          <p:nvPr/>
        </p:nvCxnSpPr>
        <p:spPr>
          <a:xfrm rot="10800000" flipV="1">
            <a:off x="4090990" y="4101085"/>
            <a:ext cx="673747" cy="284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A4AA1A11-6E8F-2E7B-0076-98CBA36CE2E3}"/>
              </a:ext>
            </a:extLst>
          </p:cNvPr>
          <p:cNvCxnSpPr>
            <a:cxnSpLocks/>
            <a:stCxn id="37" idx="3"/>
            <a:endCxn id="43" idx="0"/>
          </p:cNvCxnSpPr>
          <p:nvPr/>
        </p:nvCxnSpPr>
        <p:spPr>
          <a:xfrm>
            <a:off x="5229050" y="4101086"/>
            <a:ext cx="638298" cy="1092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C7A2892-6C1E-A025-43F0-E2D4520D921C}"/>
              </a:ext>
            </a:extLst>
          </p:cNvPr>
          <p:cNvSpPr txBox="1"/>
          <p:nvPr/>
        </p:nvSpPr>
        <p:spPr>
          <a:xfrm>
            <a:off x="3417241" y="4592367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1F5B1A-FE58-3DAE-FB55-978D0E4D17B0}"/>
              </a:ext>
            </a:extLst>
          </p:cNvPr>
          <p:cNvSpPr txBox="1"/>
          <p:nvPr/>
        </p:nvSpPr>
        <p:spPr>
          <a:xfrm>
            <a:off x="5245241" y="4108935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  <p:pic>
        <p:nvPicPr>
          <p:cNvPr id="43" name="Picture 8">
            <a:extLst>
              <a:ext uri="{FF2B5EF4-FFF2-40B4-BE49-F238E27FC236}">
                <a16:creationId xmlns:a16="http://schemas.microsoft.com/office/drawing/2014/main" id="{F7EE7308-2761-6478-D79A-FEE817DF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848" y="5193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D0C3744-7BC4-65FF-2A5A-574195C412FF}"/>
              </a:ext>
            </a:extLst>
          </p:cNvPr>
          <p:cNvSpPr txBox="1"/>
          <p:nvPr/>
        </p:nvSpPr>
        <p:spPr>
          <a:xfrm flipH="1">
            <a:off x="3285835" y="5998243"/>
            <a:ext cx="6091366" cy="57629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108000" tIns="72000" rIns="0" bIns="7200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 NOT spend more than 4 min (5 min max) on any question – push to L3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 NOT use AMR for extended time, only for recheck (not rework)</a:t>
            </a:r>
          </a:p>
        </p:txBody>
      </p:sp>
      <p:pic>
        <p:nvPicPr>
          <p:cNvPr id="57" name="Picture 10">
            <a:extLst>
              <a:ext uri="{FF2B5EF4-FFF2-40B4-BE49-F238E27FC236}">
                <a16:creationId xmlns:a16="http://schemas.microsoft.com/office/drawing/2014/main" id="{0A8D0C1F-FE19-F071-5686-1D456139D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50" y="1494303"/>
            <a:ext cx="267568" cy="26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F8AF53-589F-1E0F-5BFF-A9BC60B35078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6144984" y="1811465"/>
            <a:ext cx="1" cy="357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186EE16-590F-CA82-D7EC-B2AA4ED15A24}"/>
              </a:ext>
            </a:extLst>
          </p:cNvPr>
          <p:cNvSpPr txBox="1"/>
          <p:nvPr/>
        </p:nvSpPr>
        <p:spPr>
          <a:xfrm flipH="1">
            <a:off x="925416" y="2724317"/>
            <a:ext cx="2110049" cy="215444"/>
          </a:xfrm>
          <a:prstGeom prst="accentCallout2">
            <a:avLst>
              <a:gd name="adj1" fmla="val 65016"/>
              <a:gd name="adj2" fmla="val 10989"/>
              <a:gd name="adj3" fmla="val 65456"/>
              <a:gd name="adj4" fmla="val 2428"/>
              <a:gd name="adj5" fmla="val 574600"/>
              <a:gd name="adj6" fmla="val -8769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Converging at 4 min?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12C2C5F-9C6F-42A0-FFC4-4FDAB12A5761}"/>
              </a:ext>
            </a:extLst>
          </p:cNvPr>
          <p:cNvSpPr/>
          <p:nvPr/>
        </p:nvSpPr>
        <p:spPr>
          <a:xfrm>
            <a:off x="6718325" y="3429000"/>
            <a:ext cx="1326547" cy="289066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Register Alert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7A71B2A7-20F8-D757-D8CE-AC3663C368F9}"/>
              </a:ext>
            </a:extLst>
          </p:cNvPr>
          <p:cNvCxnSpPr>
            <a:stCxn id="76" idx="1"/>
            <a:endCxn id="37" idx="0"/>
          </p:cNvCxnSpPr>
          <p:nvPr/>
        </p:nvCxnSpPr>
        <p:spPr>
          <a:xfrm rot="10800000" flipV="1">
            <a:off x="4996893" y="3573533"/>
            <a:ext cx="1721432" cy="2953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iamond 87">
            <a:extLst>
              <a:ext uri="{FF2B5EF4-FFF2-40B4-BE49-F238E27FC236}">
                <a16:creationId xmlns:a16="http://schemas.microsoft.com/office/drawing/2014/main" id="{FDFBB2CE-7C91-FEAF-0BF6-D7B97CFBEF65}"/>
              </a:ext>
            </a:extLst>
          </p:cNvPr>
          <p:cNvSpPr/>
          <p:nvPr/>
        </p:nvSpPr>
        <p:spPr>
          <a:xfrm>
            <a:off x="3858832" y="4385935"/>
            <a:ext cx="464314" cy="464314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878A3E09-68E4-31D9-B953-1709E4DF7B8C}"/>
              </a:ext>
            </a:extLst>
          </p:cNvPr>
          <p:cNvCxnSpPr>
            <a:stCxn id="24" idx="1"/>
            <a:endCxn id="88" idx="0"/>
          </p:cNvCxnSpPr>
          <p:nvPr/>
        </p:nvCxnSpPr>
        <p:spPr>
          <a:xfrm rot="10800000" flipV="1">
            <a:off x="4090990" y="2313723"/>
            <a:ext cx="1607837" cy="20722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10BAEE4D-FBF5-E60C-A896-EB0E03CB3BCE}"/>
              </a:ext>
            </a:extLst>
          </p:cNvPr>
          <p:cNvCxnSpPr>
            <a:stCxn id="88" idx="1"/>
            <a:endCxn id="38" idx="0"/>
          </p:cNvCxnSpPr>
          <p:nvPr/>
        </p:nvCxnSpPr>
        <p:spPr>
          <a:xfrm rot="10800000" flipV="1">
            <a:off x="3403506" y="4618092"/>
            <a:ext cx="455326" cy="575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6">
            <a:extLst>
              <a:ext uri="{FF2B5EF4-FFF2-40B4-BE49-F238E27FC236}">
                <a16:creationId xmlns:a16="http://schemas.microsoft.com/office/drawing/2014/main" id="{75C9F478-730F-6014-C217-E9C59B2C5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686" y="5193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6FB68C93-BDBA-2184-A51D-BD49341CD0BA}"/>
              </a:ext>
            </a:extLst>
          </p:cNvPr>
          <p:cNvCxnSpPr>
            <a:stCxn id="88" idx="3"/>
            <a:endCxn id="95" idx="0"/>
          </p:cNvCxnSpPr>
          <p:nvPr/>
        </p:nvCxnSpPr>
        <p:spPr>
          <a:xfrm>
            <a:off x="4323146" y="4618092"/>
            <a:ext cx="364040" cy="575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9FABA63A-D47B-0852-292D-80DCEF7069BF}"/>
              </a:ext>
            </a:extLst>
          </p:cNvPr>
          <p:cNvSpPr txBox="1"/>
          <p:nvPr/>
        </p:nvSpPr>
        <p:spPr>
          <a:xfrm>
            <a:off x="903747" y="4130702"/>
            <a:ext cx="176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Make short note of what area needs recheck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9BC33A8-09F5-6422-B647-A63B25918137}"/>
              </a:ext>
            </a:extLst>
          </p:cNvPr>
          <p:cNvSpPr txBox="1"/>
          <p:nvPr/>
        </p:nvSpPr>
        <p:spPr>
          <a:xfrm>
            <a:off x="5351712" y="2859275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280BFDD-D2CA-2AC6-2F69-3E34632CBCDC}"/>
              </a:ext>
            </a:extLst>
          </p:cNvPr>
          <p:cNvSpPr txBox="1"/>
          <p:nvPr/>
        </p:nvSpPr>
        <p:spPr>
          <a:xfrm>
            <a:off x="6657609" y="2848326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445697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98D72BB-28DE-8E44-B85E-A59B10D8996D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62C017-A1EE-C64C-A33D-23D75EA15EDB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241B5FC-AD88-3848-9861-41302CE9B36C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879E4E30-00E4-6743-8746-2695AF9D2B14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DFED527-B02B-7C43-B012-428DD75230B2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C517371B-67EE-C444-95A4-2B2C235A1DB2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165373B-542F-A148-A634-D45DBD3CAC9B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F8D7A-AE9F-E541-AAA0-46C7FDA73BD3}"/>
              </a:ext>
            </a:extLst>
          </p:cNvPr>
          <p:cNvSpPr txBox="1"/>
          <p:nvPr/>
        </p:nvSpPr>
        <p:spPr>
          <a:xfrm>
            <a:off x="827314" y="1649420"/>
            <a:ext cx="97862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D7DB5E"/>
                </a:solidFill>
              </a:rPr>
              <a:t>AMR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919542"/>
                </a:solidFill>
              </a:rPr>
              <a:t>Attempt ONLY the questions marked for review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DO NOT solve the problem again, only cross-check the working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919542"/>
                </a:solidFill>
              </a:rPr>
              <a:t>If the problem needs reattempt, move to L3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919542"/>
                </a:solidFill>
              </a:rPr>
              <a:t>If uncertain, move to L3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AA7F1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AA7F1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D7DB5E"/>
              </a:solidFill>
            </a:endParaRP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E9F198FD-04B3-5C47-8B13-AC6D59C2986A}"/>
              </a:ext>
            </a:extLst>
          </p:cNvPr>
          <p:cNvSpPr/>
          <p:nvPr/>
        </p:nvSpPr>
        <p:spPr>
          <a:xfrm>
            <a:off x="5337068" y="223155"/>
            <a:ext cx="1600198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C0BB788-0ED6-B740-4EE3-E724ABDB8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AAEA4D12-6F63-E32A-782A-56F843EC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9CFBE68C-E707-6E27-5DE8-D6A19D8EC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F69F3AC6-F6D0-910D-369A-3F8BED7BF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25AE3293-8E0E-9C3B-F59E-F7BDE6E5D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F76BC6D3-599B-7690-861E-6B7DD2C10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F5B33E43-4744-4BA9-3FFC-6C658CB3C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126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8C683-B9C6-DD9D-18D0-BF609B62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5C22F88D-0E63-547D-A7F5-F16A7B2211DE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AA04EAF-78E5-C03B-E87C-2F6C15E8EA79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3DC2DCD-C290-BA01-B1CC-F73B02353098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3C9AA46B-C4CF-5B01-7BE4-1AEF5AD8A081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2001BEFA-3D67-0820-572E-92D30ED3C853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8B415C90-A4AA-2877-D947-4105906CD4C9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B8F965EA-6990-E97C-FCB9-5FF81F7F31D3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9FD4CA08-F7FE-9D83-48AB-6B71B65F9091}"/>
              </a:ext>
            </a:extLst>
          </p:cNvPr>
          <p:cNvSpPr/>
          <p:nvPr/>
        </p:nvSpPr>
        <p:spPr>
          <a:xfrm>
            <a:off x="5337068" y="223155"/>
            <a:ext cx="1600198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52178CE-73F8-B0C1-C45F-0E7935D7C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5E74B733-AD12-2711-5CE8-6345BD34F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70943FC6-9D2A-9373-690B-A1452DF8D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41A6C1A8-D914-54CA-2E1D-7E49DA6FF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9B5FFE37-CF94-22BE-9220-EDC4421C6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EBD2BC08-2419-96D9-514D-A8970085C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7C69D65B-34B2-32D0-54C2-47FE0E86D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250104-01C1-E441-A19F-BE5C24458A8D}"/>
              </a:ext>
            </a:extLst>
          </p:cNvPr>
          <p:cNvSpPr/>
          <p:nvPr/>
        </p:nvSpPr>
        <p:spPr>
          <a:xfrm>
            <a:off x="5129445" y="1729756"/>
            <a:ext cx="2015443" cy="381000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Goto next        question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7157F4-4810-DB5E-B4FA-C0F81405BAD1}"/>
              </a:ext>
            </a:extLst>
          </p:cNvPr>
          <p:cNvSpPr txBox="1"/>
          <p:nvPr/>
        </p:nvSpPr>
        <p:spPr>
          <a:xfrm>
            <a:off x="8257759" y="2079231"/>
            <a:ext cx="2110049" cy="215444"/>
          </a:xfrm>
          <a:prstGeom prst="accentCallout2">
            <a:avLst>
              <a:gd name="adj1" fmla="val 65016"/>
              <a:gd name="adj2" fmla="val -1705"/>
              <a:gd name="adj3" fmla="val 69744"/>
              <a:gd name="adj4" fmla="val -14206"/>
              <a:gd name="adj5" fmla="val 570313"/>
              <a:gd name="adj6" fmla="val -947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59238"/>
                </a:solidFill>
              </a:rPr>
              <a:t>Satisfied with answer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B8DA989-0930-B6D1-1BB6-2DC36A4BAA20}"/>
              </a:ext>
            </a:extLst>
          </p:cNvPr>
          <p:cNvSpPr/>
          <p:nvPr/>
        </p:nvSpPr>
        <p:spPr>
          <a:xfrm>
            <a:off x="5691008" y="2468481"/>
            <a:ext cx="892316" cy="289066"/>
          </a:xfrm>
          <a:prstGeom prst="roundRect">
            <a:avLst/>
          </a:prstGeom>
          <a:solidFill>
            <a:srgbClr val="00B050">
              <a:alpha val="485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Attempt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C6E443BA-F2D6-148C-925F-3A6ED30185DE}"/>
              </a:ext>
            </a:extLst>
          </p:cNvPr>
          <p:cNvSpPr/>
          <p:nvPr/>
        </p:nvSpPr>
        <p:spPr>
          <a:xfrm>
            <a:off x="5902766" y="3163539"/>
            <a:ext cx="468799" cy="468799"/>
          </a:xfrm>
          <a:prstGeom prst="diamond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1F6D5F-D8DC-AB49-9B78-D4ABCCDA82F5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6137166" y="2757547"/>
            <a:ext cx="0" cy="405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3C6BA893-A20C-55E8-ADAE-2F4A67DFCFAD}"/>
              </a:ext>
            </a:extLst>
          </p:cNvPr>
          <p:cNvCxnSpPr>
            <a:cxnSpLocks/>
            <a:stCxn id="22" idx="3"/>
            <a:endCxn id="35" idx="0"/>
          </p:cNvCxnSpPr>
          <p:nvPr/>
        </p:nvCxnSpPr>
        <p:spPr>
          <a:xfrm>
            <a:off x="6371565" y="3397939"/>
            <a:ext cx="948924" cy="11263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AE9926C-99D1-8898-18F6-B8974BFF0504}"/>
              </a:ext>
            </a:extLst>
          </p:cNvPr>
          <p:cNvCxnSpPr>
            <a:cxnSpLocks/>
            <a:stCxn id="22" idx="1"/>
            <a:endCxn id="45" idx="0"/>
          </p:cNvCxnSpPr>
          <p:nvPr/>
        </p:nvCxnSpPr>
        <p:spPr>
          <a:xfrm rot="10800000" flipV="1">
            <a:off x="4947094" y="3397938"/>
            <a:ext cx="955673" cy="11263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8">
            <a:extLst>
              <a:ext uri="{FF2B5EF4-FFF2-40B4-BE49-F238E27FC236}">
                <a16:creationId xmlns:a16="http://schemas.microsoft.com/office/drawing/2014/main" id="{358A2ECB-9722-0B78-C4D4-CEA2D27A4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989" y="452429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DD40C13-EA9B-10FC-5309-01F75AE3D872}"/>
              </a:ext>
            </a:extLst>
          </p:cNvPr>
          <p:cNvSpPr txBox="1"/>
          <p:nvPr/>
        </p:nvSpPr>
        <p:spPr>
          <a:xfrm flipH="1">
            <a:off x="3285835" y="5998243"/>
            <a:ext cx="6091366" cy="57629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lIns="108000" tIns="72000" rIns="0" bIns="72000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 NOT reattempt. If reattempt is required, move to L3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Validate only recheck areas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3CD6EA-16CF-57F1-86E3-2A8EEC477CBF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 flipH="1">
            <a:off x="6137166" y="2110756"/>
            <a:ext cx="1" cy="357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6">
            <a:extLst>
              <a:ext uri="{FF2B5EF4-FFF2-40B4-BE49-F238E27FC236}">
                <a16:creationId xmlns:a16="http://schemas.microsoft.com/office/drawing/2014/main" id="{02C202E1-F080-9C06-0F7C-4E7AFCF89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593" y="452429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>
            <a:extLst>
              <a:ext uri="{FF2B5EF4-FFF2-40B4-BE49-F238E27FC236}">
                <a16:creationId xmlns:a16="http://schemas.microsoft.com/office/drawing/2014/main" id="{BE88B287-2CA7-546D-A564-0328851EE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030" y="1791988"/>
            <a:ext cx="268160" cy="26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1DF23B8-CD3D-3982-5356-F6BC2B90C9FA}"/>
              </a:ext>
            </a:extLst>
          </p:cNvPr>
          <p:cNvSpPr txBox="1"/>
          <p:nvPr/>
        </p:nvSpPr>
        <p:spPr>
          <a:xfrm>
            <a:off x="5409199" y="3129638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92D050"/>
                </a:solidFill>
              </a:rPr>
              <a:t>Yes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7F5F14-A72B-5DE4-11EF-A4B6EE9AED93}"/>
              </a:ext>
            </a:extLst>
          </p:cNvPr>
          <p:cNvSpPr txBox="1"/>
          <p:nvPr/>
        </p:nvSpPr>
        <p:spPr>
          <a:xfrm>
            <a:off x="6637513" y="3120250"/>
            <a:ext cx="4643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951855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>
            <a:extLst>
              <a:ext uri="{FF2B5EF4-FFF2-40B4-BE49-F238E27FC236}">
                <a16:creationId xmlns:a16="http://schemas.microsoft.com/office/drawing/2014/main" id="{198D72BB-28DE-8E44-B85E-A59B10D8996D}"/>
              </a:ext>
            </a:extLst>
          </p:cNvPr>
          <p:cNvSpPr/>
          <p:nvPr/>
        </p:nvSpPr>
        <p:spPr>
          <a:xfrm>
            <a:off x="881743" y="304800"/>
            <a:ext cx="1600199" cy="631371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62C017-A1EE-C64C-A33D-23D75EA15EDB}"/>
              </a:ext>
            </a:extLst>
          </p:cNvPr>
          <p:cNvSpPr/>
          <p:nvPr/>
        </p:nvSpPr>
        <p:spPr>
          <a:xfrm>
            <a:off x="2460172" y="304800"/>
            <a:ext cx="1088572" cy="631371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241B5FC-AD88-3848-9861-41302CE9B36C}"/>
              </a:ext>
            </a:extLst>
          </p:cNvPr>
          <p:cNvSpPr/>
          <p:nvPr/>
        </p:nvSpPr>
        <p:spPr>
          <a:xfrm>
            <a:off x="3548744" y="304800"/>
            <a:ext cx="1926770" cy="631371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879E4E30-00E4-6743-8746-2695AF9D2B14}"/>
              </a:ext>
            </a:extLst>
          </p:cNvPr>
          <p:cNvSpPr/>
          <p:nvPr/>
        </p:nvSpPr>
        <p:spPr>
          <a:xfrm>
            <a:off x="5464628" y="304800"/>
            <a:ext cx="1360715" cy="63137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DFED527-B02B-7C43-B012-428DD75230B2}"/>
              </a:ext>
            </a:extLst>
          </p:cNvPr>
          <p:cNvSpPr/>
          <p:nvPr/>
        </p:nvSpPr>
        <p:spPr>
          <a:xfrm>
            <a:off x="6825344" y="304800"/>
            <a:ext cx="968828" cy="631371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C517371B-67EE-C444-95A4-2B2C235A1DB2}"/>
              </a:ext>
            </a:extLst>
          </p:cNvPr>
          <p:cNvSpPr/>
          <p:nvPr/>
        </p:nvSpPr>
        <p:spPr>
          <a:xfrm>
            <a:off x="7794172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165373B-542F-A148-A634-D45DBD3CAC9B}"/>
              </a:ext>
            </a:extLst>
          </p:cNvPr>
          <p:cNvSpPr/>
          <p:nvPr/>
        </p:nvSpPr>
        <p:spPr>
          <a:xfrm>
            <a:off x="9535886" y="304799"/>
            <a:ext cx="1774371" cy="631371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F8D7A-AE9F-E541-AAA0-46C7FDA73BD3}"/>
              </a:ext>
            </a:extLst>
          </p:cNvPr>
          <p:cNvSpPr txBox="1"/>
          <p:nvPr/>
        </p:nvSpPr>
        <p:spPr>
          <a:xfrm>
            <a:off x="827314" y="1649420"/>
            <a:ext cx="978625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A8DDED"/>
                </a:solidFill>
              </a:rPr>
              <a:t>L3P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98A3"/>
                </a:solidFill>
              </a:rPr>
              <a:t>Prioritize L3 marked questions into Purple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7398A3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98A3"/>
                </a:solidFill>
              </a:rPr>
              <a:t>Spend not less than 30 seconds for prioritized questions</a:t>
            </a:r>
          </a:p>
          <a:p>
            <a:pPr lvl="1"/>
            <a:endParaRPr lang="en-US" sz="2000" dirty="0">
              <a:solidFill>
                <a:srgbClr val="7398A3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398A3"/>
                </a:solidFill>
              </a:rPr>
              <a:t>DO NOT give in to EGO. Focus on maximizing marks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AA7F1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DO NOT attempt questions in this lap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AA7F1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AA7F12"/>
                </a:solidFill>
              </a:rPr>
              <a:t>Pay special attention to questions migrated from L1, L2P, L2 and AMR rounds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These questions have deceived you once before, take prudent call if you feel confident tackling them again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i="1" dirty="0">
              <a:solidFill>
                <a:srgbClr val="FF000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A8DDED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A8DDED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020D20-E4C1-2D45-B5EF-E789A62552C6}"/>
              </a:ext>
            </a:extLst>
          </p:cNvPr>
          <p:cNvCxnSpPr>
            <a:cxnSpLocks/>
          </p:cNvCxnSpPr>
          <p:nvPr/>
        </p:nvCxnSpPr>
        <p:spPr>
          <a:xfrm>
            <a:off x="7162800" y="936170"/>
            <a:ext cx="0" cy="511629"/>
          </a:xfrm>
          <a:prstGeom prst="line">
            <a:avLst/>
          </a:prstGeom>
          <a:ln w="57150">
            <a:solidFill>
              <a:srgbClr val="A8D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hevron 13">
            <a:extLst>
              <a:ext uri="{FF2B5EF4-FFF2-40B4-BE49-F238E27FC236}">
                <a16:creationId xmlns:a16="http://schemas.microsoft.com/office/drawing/2014/main" id="{E9F198FD-04B3-5C47-8B13-AC6D59C2986A}"/>
              </a:ext>
            </a:extLst>
          </p:cNvPr>
          <p:cNvSpPr/>
          <p:nvPr/>
        </p:nvSpPr>
        <p:spPr>
          <a:xfrm>
            <a:off x="6705602" y="236645"/>
            <a:ext cx="1164768" cy="794657"/>
          </a:xfrm>
          <a:prstGeom prst="chevron">
            <a:avLst>
              <a:gd name="adj" fmla="val 2545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FC25555-6435-D3F7-9B30-13E16AB1F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DA645A50-8DD2-F0BA-5DBF-9AE74A923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30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E2CC3536-04A5-8A7F-3BAE-3E27D101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841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6B5CECE-7C3B-54C9-7228-8EA31DC2B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55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C37C3314-438B-0B4B-D174-694048F83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60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>
            <a:extLst>
              <a:ext uri="{FF2B5EF4-FFF2-40B4-BE49-F238E27FC236}">
                <a16:creationId xmlns:a16="http://schemas.microsoft.com/office/drawing/2014/main" id="{57259ADA-0B8E-9985-C577-5D4E28C1A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77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CE918987-5594-0CC1-411C-8152B9DD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238" y="114299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585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800F-5031-FD22-3FCE-364D573F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6BFAE524-ED55-C1FA-15E1-E426505084CA}"/>
              </a:ext>
            </a:extLst>
          </p:cNvPr>
          <p:cNvCxnSpPr>
            <a:cxnSpLocks/>
          </p:cNvCxnSpPr>
          <p:nvPr/>
        </p:nvCxnSpPr>
        <p:spPr>
          <a:xfrm>
            <a:off x="10258454" y="5365688"/>
            <a:ext cx="0" cy="140456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675FBB8-1C94-1315-DA79-C14126CEC537}"/>
              </a:ext>
            </a:extLst>
          </p:cNvPr>
          <p:cNvCxnSpPr>
            <a:cxnSpLocks/>
          </p:cNvCxnSpPr>
          <p:nvPr/>
        </p:nvCxnSpPr>
        <p:spPr>
          <a:xfrm>
            <a:off x="8979630" y="5531833"/>
            <a:ext cx="778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65CBAF-5C8F-B405-FBD1-52A327664244}"/>
              </a:ext>
            </a:extLst>
          </p:cNvPr>
          <p:cNvCxnSpPr>
            <a:cxnSpLocks/>
          </p:cNvCxnSpPr>
          <p:nvPr/>
        </p:nvCxnSpPr>
        <p:spPr>
          <a:xfrm>
            <a:off x="7385214" y="4004110"/>
            <a:ext cx="10553" cy="27838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BAE5896-6DA5-2A3E-52E2-90A9584FF24C}"/>
              </a:ext>
            </a:extLst>
          </p:cNvPr>
          <p:cNvCxnSpPr>
            <a:cxnSpLocks/>
          </p:cNvCxnSpPr>
          <p:nvPr/>
        </p:nvCxnSpPr>
        <p:spPr>
          <a:xfrm>
            <a:off x="6039795" y="3050718"/>
            <a:ext cx="14206" cy="37476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9DC51C-BFBC-78F5-74B6-8992DA809BBB}"/>
              </a:ext>
            </a:extLst>
          </p:cNvPr>
          <p:cNvCxnSpPr>
            <a:cxnSpLocks/>
          </p:cNvCxnSpPr>
          <p:nvPr/>
        </p:nvCxnSpPr>
        <p:spPr>
          <a:xfrm>
            <a:off x="4427660" y="2485756"/>
            <a:ext cx="16356" cy="431492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A9D709-F5CA-7386-D8BB-95BA4A8E68DF}"/>
              </a:ext>
            </a:extLst>
          </p:cNvPr>
          <p:cNvCxnSpPr>
            <a:cxnSpLocks/>
          </p:cNvCxnSpPr>
          <p:nvPr/>
        </p:nvCxnSpPr>
        <p:spPr>
          <a:xfrm>
            <a:off x="2806952" y="1783792"/>
            <a:ext cx="18901" cy="49864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0FCF64-6A59-4543-1E64-D5D9D6B81FDB}"/>
              </a:ext>
            </a:extLst>
          </p:cNvPr>
          <p:cNvCxnSpPr>
            <a:cxnSpLocks/>
          </p:cNvCxnSpPr>
          <p:nvPr/>
        </p:nvCxnSpPr>
        <p:spPr>
          <a:xfrm>
            <a:off x="1453381" y="1016000"/>
            <a:ext cx="3742" cy="5754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evron 4">
            <a:extLst>
              <a:ext uri="{FF2B5EF4-FFF2-40B4-BE49-F238E27FC236}">
                <a16:creationId xmlns:a16="http://schemas.microsoft.com/office/drawing/2014/main" id="{14794E97-37D0-DE5D-2C89-70771DB5F9B0}"/>
              </a:ext>
            </a:extLst>
          </p:cNvPr>
          <p:cNvSpPr/>
          <p:nvPr/>
        </p:nvSpPr>
        <p:spPr>
          <a:xfrm>
            <a:off x="1051193" y="550131"/>
            <a:ext cx="812563" cy="394034"/>
          </a:xfrm>
          <a:prstGeom prst="chevron">
            <a:avLst>
              <a:gd name="adj" fmla="val 2545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L1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96EA05DD-FB5B-4394-F175-567BFAA7BC28}"/>
              </a:ext>
            </a:extLst>
          </p:cNvPr>
          <p:cNvSpPr/>
          <p:nvPr/>
        </p:nvSpPr>
        <p:spPr>
          <a:xfrm>
            <a:off x="2256363" y="1334677"/>
            <a:ext cx="1088572" cy="394034"/>
          </a:xfrm>
          <a:prstGeom prst="chevron">
            <a:avLst>
              <a:gd name="adj" fmla="val 2545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L2P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DB1AB77F-48CE-C944-69B2-9E93BEDF4453}"/>
              </a:ext>
            </a:extLst>
          </p:cNvPr>
          <p:cNvSpPr/>
          <p:nvPr/>
        </p:nvSpPr>
        <p:spPr>
          <a:xfrm>
            <a:off x="3898312" y="2027403"/>
            <a:ext cx="1041001" cy="394034"/>
          </a:xfrm>
          <a:prstGeom prst="chevron">
            <a:avLst>
              <a:gd name="adj" fmla="val 2545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L2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6C725435-BA8F-334C-289D-685221F6E2DC}"/>
              </a:ext>
            </a:extLst>
          </p:cNvPr>
          <p:cNvSpPr/>
          <p:nvPr/>
        </p:nvSpPr>
        <p:spPr>
          <a:xfrm>
            <a:off x="5415642" y="2776348"/>
            <a:ext cx="1360715" cy="548741"/>
          </a:xfrm>
          <a:prstGeom prst="chevron">
            <a:avLst>
              <a:gd name="adj" fmla="val 25455"/>
            </a:avLst>
          </a:prstGeom>
          <a:solidFill>
            <a:srgbClr val="D7D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AMR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9F65FE4E-7C2C-4A27-A838-AFB75B79E78A}"/>
              </a:ext>
            </a:extLst>
          </p:cNvPr>
          <p:cNvSpPr/>
          <p:nvPr/>
        </p:nvSpPr>
        <p:spPr>
          <a:xfrm>
            <a:off x="6951849" y="3736931"/>
            <a:ext cx="968828" cy="584534"/>
          </a:xfrm>
          <a:prstGeom prst="chevron">
            <a:avLst>
              <a:gd name="adj" fmla="val 25455"/>
            </a:avLst>
          </a:prstGeom>
          <a:solidFill>
            <a:srgbClr val="A8D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L3P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F1128DE4-7E1A-F8F6-F334-2A18C2940420}"/>
              </a:ext>
            </a:extLst>
          </p:cNvPr>
          <p:cNvSpPr/>
          <p:nvPr/>
        </p:nvSpPr>
        <p:spPr>
          <a:xfrm>
            <a:off x="8253187" y="4715985"/>
            <a:ext cx="1202218" cy="394034"/>
          </a:xfrm>
          <a:prstGeom prst="chevron">
            <a:avLst>
              <a:gd name="adj" fmla="val 2545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L3.1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80CCF8B7-73B6-D8DA-903E-E53DBC746189}"/>
              </a:ext>
            </a:extLst>
          </p:cNvPr>
          <p:cNvSpPr/>
          <p:nvPr/>
        </p:nvSpPr>
        <p:spPr>
          <a:xfrm>
            <a:off x="9758035" y="5237151"/>
            <a:ext cx="885536" cy="394034"/>
          </a:xfrm>
          <a:prstGeom prst="chevron">
            <a:avLst>
              <a:gd name="adj" fmla="val 25455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</a:rPr>
              <a:t>L3.2</a:t>
            </a:r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5E148837-5FDC-8B95-B9BF-D171EB01B8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1229134" y="5977171"/>
            <a:ext cx="437503" cy="3960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3569B1-E4E8-F475-80F1-4C934E7274B2}"/>
              </a:ext>
            </a:extLst>
          </p:cNvPr>
          <p:cNvCxnSpPr>
            <a:cxnSpLocks/>
          </p:cNvCxnSpPr>
          <p:nvPr/>
        </p:nvCxnSpPr>
        <p:spPr>
          <a:xfrm>
            <a:off x="1608563" y="1532677"/>
            <a:ext cx="719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B91BD5E2-B3ED-EF8D-0869-1FD85A8B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752" y="120436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1CD1CD82-B7A4-166D-9750-0088C87F6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902" y="894886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0DCD4BDC-B58D-CB99-5AA0-DFBA218B0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047" y="1594475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2AA2989-D034-6E8A-5101-9269D0386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23" y="2375383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8CE8C308-BE6F-60E9-8AA9-12E99F5AC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763" y="334302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51EEF677-5BCC-08FD-1C3E-5E513340B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796" y="4284185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3CAD1825-6DD0-A8A5-67E9-1C22E9683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303" y="4805351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1CC04D-B8ED-A750-212F-12C7BDDC2C14}"/>
              </a:ext>
            </a:extLst>
          </p:cNvPr>
          <p:cNvCxnSpPr>
            <a:cxnSpLocks/>
          </p:cNvCxnSpPr>
          <p:nvPr/>
        </p:nvCxnSpPr>
        <p:spPr>
          <a:xfrm flipV="1">
            <a:off x="2816402" y="2217901"/>
            <a:ext cx="598137" cy="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DFF9FB8-647E-A52F-CB28-940D9D37168C}"/>
              </a:ext>
            </a:extLst>
          </p:cNvPr>
          <p:cNvCxnSpPr>
            <a:cxnSpLocks/>
          </p:cNvCxnSpPr>
          <p:nvPr/>
        </p:nvCxnSpPr>
        <p:spPr>
          <a:xfrm>
            <a:off x="4444016" y="2929226"/>
            <a:ext cx="1026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4">
            <a:extLst>
              <a:ext uri="{FF2B5EF4-FFF2-40B4-BE49-F238E27FC236}">
                <a16:creationId xmlns:a16="http://schemas.microsoft.com/office/drawing/2014/main" id="{6FD7AAAD-B1D4-FB4F-63C7-F4A58D728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88" y="2811799"/>
            <a:ext cx="267855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4">
            <a:extLst>
              <a:ext uri="{FF2B5EF4-FFF2-40B4-BE49-F238E27FC236}">
                <a16:creationId xmlns:a16="http://schemas.microsoft.com/office/drawing/2014/main" id="{A21C4F99-73D2-4F66-D439-ADF4E3410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958" y="3040331"/>
            <a:ext cx="267855" cy="2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EE60D50-7EB0-3E6C-ED56-9DFD1A87A342}"/>
              </a:ext>
            </a:extLst>
          </p:cNvPr>
          <p:cNvCxnSpPr>
            <a:cxnSpLocks/>
          </p:cNvCxnSpPr>
          <p:nvPr/>
        </p:nvCxnSpPr>
        <p:spPr>
          <a:xfrm>
            <a:off x="1618758" y="3174258"/>
            <a:ext cx="3824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10">
            <a:extLst>
              <a:ext uri="{FF2B5EF4-FFF2-40B4-BE49-F238E27FC236}">
                <a16:creationId xmlns:a16="http://schemas.microsoft.com/office/drawing/2014/main" id="{5E002853-25DA-324E-507A-335FB9A6F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961" y="1414709"/>
            <a:ext cx="267849" cy="26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8">
            <a:extLst>
              <a:ext uri="{FF2B5EF4-FFF2-40B4-BE49-F238E27FC236}">
                <a16:creationId xmlns:a16="http://schemas.microsoft.com/office/drawing/2014/main" id="{A7614871-9159-89BD-5B70-528190AB6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088" y="3724020"/>
            <a:ext cx="271597" cy="27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8">
            <a:extLst>
              <a:ext uri="{FF2B5EF4-FFF2-40B4-BE49-F238E27FC236}">
                <a16:creationId xmlns:a16="http://schemas.microsoft.com/office/drawing/2014/main" id="{EF043642-DE29-C8D9-77CB-F08972B51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087" y="3911747"/>
            <a:ext cx="271597" cy="27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BBE4159-F813-54BF-6459-656777B79F08}"/>
              </a:ext>
            </a:extLst>
          </p:cNvPr>
          <p:cNvCxnSpPr>
            <a:cxnSpLocks/>
          </p:cNvCxnSpPr>
          <p:nvPr/>
        </p:nvCxnSpPr>
        <p:spPr>
          <a:xfrm>
            <a:off x="1591050" y="4047545"/>
            <a:ext cx="5360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CC42B77-6A4B-D380-3C56-457C473F5916}"/>
              </a:ext>
            </a:extLst>
          </p:cNvPr>
          <p:cNvCxnSpPr>
            <a:cxnSpLocks/>
          </p:cNvCxnSpPr>
          <p:nvPr/>
        </p:nvCxnSpPr>
        <p:spPr>
          <a:xfrm>
            <a:off x="4577943" y="3859818"/>
            <a:ext cx="2373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 descr="A picture containing icon&#10;&#10;Description automatically generated">
            <a:extLst>
              <a:ext uri="{FF2B5EF4-FFF2-40B4-BE49-F238E27FC236}">
                <a16:creationId xmlns:a16="http://schemas.microsoft.com/office/drawing/2014/main" id="{0CF82AD6-8F13-5195-4FA2-690706284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4231047" y="5977171"/>
            <a:ext cx="437503" cy="396000"/>
          </a:xfrm>
          <a:prstGeom prst="rect">
            <a:avLst/>
          </a:prstGeom>
        </p:spPr>
      </p:pic>
      <p:pic>
        <p:nvPicPr>
          <p:cNvPr id="80" name="Picture 79" descr="A picture containing icon&#10;&#10;Description automatically generated">
            <a:extLst>
              <a:ext uri="{FF2B5EF4-FFF2-40B4-BE49-F238E27FC236}">
                <a16:creationId xmlns:a16="http://schemas.microsoft.com/office/drawing/2014/main" id="{FE4B4275-BE7C-5256-998D-D63EB2A971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5827071" y="5977171"/>
            <a:ext cx="437503" cy="396000"/>
          </a:xfrm>
          <a:prstGeom prst="rect">
            <a:avLst/>
          </a:prstGeom>
        </p:spPr>
      </p:pic>
      <p:pic>
        <p:nvPicPr>
          <p:cNvPr id="81" name="Picture 8">
            <a:extLst>
              <a:ext uri="{FF2B5EF4-FFF2-40B4-BE49-F238E27FC236}">
                <a16:creationId xmlns:a16="http://schemas.microsoft.com/office/drawing/2014/main" id="{84E7DCC9-9414-C8C0-E025-7B9C0EDB7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202" y="4103559"/>
            <a:ext cx="271597" cy="27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8497FA3-E770-CA61-F7FA-E424DE785D94}"/>
              </a:ext>
            </a:extLst>
          </p:cNvPr>
          <p:cNvCxnSpPr>
            <a:cxnSpLocks/>
          </p:cNvCxnSpPr>
          <p:nvPr/>
        </p:nvCxnSpPr>
        <p:spPr>
          <a:xfrm>
            <a:off x="6173444" y="4239357"/>
            <a:ext cx="778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10">
            <a:extLst>
              <a:ext uri="{FF2B5EF4-FFF2-40B4-BE49-F238E27FC236}">
                <a16:creationId xmlns:a16="http://schemas.microsoft.com/office/drawing/2014/main" id="{795929FE-6D08-E3A3-5C1F-72C3FAAB1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753" y="2094458"/>
            <a:ext cx="267849" cy="26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10">
            <a:extLst>
              <a:ext uri="{FF2B5EF4-FFF2-40B4-BE49-F238E27FC236}">
                <a16:creationId xmlns:a16="http://schemas.microsoft.com/office/drawing/2014/main" id="{5BFFACB8-505F-4546-86A2-EB0022EC1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121" y="4769200"/>
            <a:ext cx="267849" cy="26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A82717A-DA67-DE8A-5553-6B1541CE9121}"/>
              </a:ext>
            </a:extLst>
          </p:cNvPr>
          <p:cNvCxnSpPr>
            <a:cxnSpLocks/>
          </p:cNvCxnSpPr>
          <p:nvPr/>
        </p:nvCxnSpPr>
        <p:spPr>
          <a:xfrm>
            <a:off x="7547842" y="4903124"/>
            <a:ext cx="705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8">
            <a:extLst>
              <a:ext uri="{FF2B5EF4-FFF2-40B4-BE49-F238E27FC236}">
                <a16:creationId xmlns:a16="http://schemas.microsoft.com/office/drawing/2014/main" id="{E9EEBA8D-6365-8BB0-8BDA-63787DDAE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789" y="5229890"/>
            <a:ext cx="271597" cy="27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523AE16-52DA-3865-E2ED-3171C6A51172}"/>
              </a:ext>
            </a:extLst>
          </p:cNvPr>
          <p:cNvCxnSpPr>
            <a:cxnSpLocks/>
          </p:cNvCxnSpPr>
          <p:nvPr/>
        </p:nvCxnSpPr>
        <p:spPr>
          <a:xfrm>
            <a:off x="7532970" y="5365688"/>
            <a:ext cx="22250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72A5501-31DD-081C-AA35-8DAE126A9103}"/>
              </a:ext>
            </a:extLst>
          </p:cNvPr>
          <p:cNvCxnSpPr>
            <a:cxnSpLocks/>
          </p:cNvCxnSpPr>
          <p:nvPr/>
        </p:nvCxnSpPr>
        <p:spPr>
          <a:xfrm>
            <a:off x="8853308" y="5082440"/>
            <a:ext cx="6264" cy="165241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A picture containing icon&#10;&#10;Description automatically generated">
            <a:extLst>
              <a:ext uri="{FF2B5EF4-FFF2-40B4-BE49-F238E27FC236}">
                <a16:creationId xmlns:a16="http://schemas.microsoft.com/office/drawing/2014/main" id="{0471D6D3-43A0-DC0B-4562-06C042485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8670220" y="5977171"/>
            <a:ext cx="437503" cy="396000"/>
          </a:xfrm>
          <a:prstGeom prst="rect">
            <a:avLst/>
          </a:prstGeom>
        </p:spPr>
      </p:pic>
      <p:pic>
        <p:nvPicPr>
          <p:cNvPr id="99" name="Picture 8">
            <a:extLst>
              <a:ext uri="{FF2B5EF4-FFF2-40B4-BE49-F238E27FC236}">
                <a16:creationId xmlns:a16="http://schemas.microsoft.com/office/drawing/2014/main" id="{A53DFA0D-F9E4-A940-38DB-12B699D24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174" y="5396035"/>
            <a:ext cx="271597" cy="27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 descr="A picture containing icon&#10;&#10;Description automatically generated">
            <a:extLst>
              <a:ext uri="{FF2B5EF4-FFF2-40B4-BE49-F238E27FC236}">
                <a16:creationId xmlns:a16="http://schemas.microsoft.com/office/drawing/2014/main" id="{A9381690-30CB-FCBD-8B52-DCC4012F3E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7" r="90225" b="24286"/>
          <a:stretch/>
        </p:blipFill>
        <p:spPr>
          <a:xfrm>
            <a:off x="10039702" y="5977171"/>
            <a:ext cx="43750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099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nalogousFromRegularSeedLeftStep">
      <a:dk1>
        <a:srgbClr val="000000"/>
      </a:dk1>
      <a:lt1>
        <a:srgbClr val="FFFFFF"/>
      </a:lt1>
      <a:dk2>
        <a:srgbClr val="243141"/>
      </a:dk2>
      <a:lt2>
        <a:srgbClr val="E2E4E8"/>
      </a:lt2>
      <a:accent1>
        <a:srgbClr val="C09D42"/>
      </a:accent1>
      <a:accent2>
        <a:srgbClr val="B95C34"/>
      </a:accent2>
      <a:accent3>
        <a:srgbClr val="CA4554"/>
      </a:accent3>
      <a:accent4>
        <a:srgbClr val="B9347A"/>
      </a:accent4>
      <a:accent5>
        <a:srgbClr val="CA45C3"/>
      </a:accent5>
      <a:accent6>
        <a:srgbClr val="8934B9"/>
      </a:accent6>
      <a:hlink>
        <a:srgbClr val="5A78C8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 Presentation Template" id="{A3BECF9B-AC29-B74B-BFCB-0D30FA7A4AA9}" vid="{2DBE9C83-B6BF-4F43-AA3C-F2D7F77B43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</TotalTime>
  <Words>931</Words>
  <Application>Microsoft Macintosh PowerPoint</Application>
  <PresentationFormat>Widescreen</PresentationFormat>
  <Paragraphs>243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Deb</dc:creator>
  <cp:lastModifiedBy>Sandeep Deb</cp:lastModifiedBy>
  <cp:revision>98</cp:revision>
  <dcterms:created xsi:type="dcterms:W3CDTF">2019-12-12T10:09:18Z</dcterms:created>
  <dcterms:modified xsi:type="dcterms:W3CDTF">2026-03-21T14:52:58Z</dcterms:modified>
</cp:coreProperties>
</file>